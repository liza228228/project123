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9" r:id="rId3"/>
    <p:sldId id="295" r:id="rId4"/>
    <p:sldId id="288" r:id="rId5"/>
    <p:sldId id="293" r:id="rId6"/>
    <p:sldId id="294" r:id="rId7"/>
    <p:sldId id="290" r:id="rId8"/>
    <p:sldId id="298" r:id="rId9"/>
    <p:sldId id="296" r:id="rId10"/>
    <p:sldId id="29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8" autoAdjust="0"/>
    <p:restoredTop sz="65263" autoAdjust="0"/>
  </p:normalViewPr>
  <p:slideViewPr>
    <p:cSldViewPr snapToGrid="0">
      <p:cViewPr varScale="1">
        <p:scale>
          <a:sx n="74" d="100"/>
          <a:sy n="74" d="100"/>
        </p:scale>
        <p:origin x="84" y="7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89266-1B27-4525-B165-AD1A73342BE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F4460-6503-445B-8A56-0254AB65E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комиссия! Тема дипломного проекта ……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59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дипломного проектирования является создание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 </a:t>
            </a:r>
            <a:r>
              <a:rPr lang="ru-RU" sz="12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дипломного проектирования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представлены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…….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задачи программного продукта: …….</a:t>
            </a:r>
            <a:endParaRPr lang="ru-RU" sz="1200" b="0" dirty="0">
              <a:solidFill>
                <a:schemeClr val="accent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Данная тема актуальна на сегодняшний момент времени, так как …… (если есть)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5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Предметной областью   веб-приложения является….  (если есть)</a:t>
            </a:r>
          </a:p>
          <a:p>
            <a:r>
              <a:rPr lang="ru-RU" dirty="0"/>
              <a:t>Это….. </a:t>
            </a:r>
            <a:endParaRPr lang="en-US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3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представлены инструментальные средства для разработки программного продукта, 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...... (клиент-серверная; )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клиента использовалось веб инструменты: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сервера использовалось: ……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проектирования….. Использовались …. Для……..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ПРОСТО ПЕРЕЧИСЛИТЬ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dirty="0"/>
              <a:t>На этапе функционального проектирования программного продукта построены диаграммы </a:t>
            </a:r>
          </a:p>
          <a:p>
            <a:pPr algn="l"/>
            <a:r>
              <a:rPr lang="ru-RU" dirty="0"/>
              <a:t>вариантов использования (</a:t>
            </a:r>
            <a:r>
              <a:rPr lang="en-US" dirty="0"/>
              <a:t>USES CASE)</a:t>
            </a:r>
            <a:r>
              <a:rPr lang="ru-RU" dirty="0"/>
              <a:t> на которой вделано … (вставить) … ролей .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Диаграмма деятельности  -для  моделировании бизнес-процессов, технологических процессов, и демонстрации последовательных действий.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07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Кром того, были построены в стандарте </a:t>
            </a:r>
            <a:r>
              <a:rPr lang="en-US" dirty="0"/>
              <a:t>IDEF0 </a:t>
            </a:r>
            <a:r>
              <a:rPr lang="ru-RU" dirty="0"/>
              <a:t>контекстная диаграмма для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представления общего описания системы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/>
              <a:t>и диаграмма декомпозиции показывающие детализацию процесса……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20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ER-модель базы данных ……., которая содержит …..(вставить количество)  таблиц….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38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разработки было проведено тестирование. Выбрано вид тестирования….. Это …..</a:t>
            </a:r>
          </a:p>
          <a:p>
            <a:endParaRPr lang="ru-RU" dirty="0"/>
          </a:p>
          <a:p>
            <a:r>
              <a:rPr lang="ru-RU" dirty="0"/>
              <a:t>Результат тестирования…..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87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04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 в процессе дипломного проектирования продемонстрирован …..(вставить вид деятельности) в части реализации функционала …..(вставить) , </a:t>
            </a:r>
          </a:p>
          <a:p>
            <a:r>
              <a:rPr lang="ru-RU" dirty="0"/>
              <a:t>также было выполнено …… (вставить вид деятельности) через (…..вставить) , </a:t>
            </a:r>
          </a:p>
          <a:p>
            <a:endParaRPr lang="ru-RU" dirty="0"/>
          </a:p>
          <a:p>
            <a:r>
              <a:rPr lang="ru-RU" dirty="0"/>
              <a:t>В результате все цели (функциональные задачи) достигнуты (выполнены). </a:t>
            </a:r>
          </a:p>
          <a:p>
            <a:endParaRPr lang="ru-RU" dirty="0"/>
          </a:p>
          <a:p>
            <a:r>
              <a:rPr lang="ru-RU" dirty="0"/>
              <a:t>Спасибо.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B4493-E3C8-4013-ABF2-C703136AD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3EEDF8-475E-477C-A987-9B23A980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BE86E1-9F5F-4CEA-9D81-1F2C8E07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C3810-D6CA-4B12-8AA5-7DF5CF3D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063BE-EA16-48A3-8992-B29920A9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5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051D6-DACB-4E1D-B3E0-21F301A0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31C8D4-6D3B-47D5-8ECA-4F425CA3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EBD8D-49BF-4A85-BA57-68ACD048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18BAA-0EBC-4340-9638-224B4EAB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35976-5D74-40E0-B296-CE85083F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50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989C5-6A8D-4F34-9C66-848ABDAD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22CCB1-09A5-4E67-BCED-44887574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591265-AA85-4038-980E-0E4D6AC2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59D130-0296-4360-ADC0-0EEDB20F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F94C0C-4CED-4A84-A745-4ED26194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50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F1C38-6D54-43A4-9A28-970F3680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84946-3751-48EB-9B3F-73DBB7897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2CF63-5B79-45B2-B784-CE7648A1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32103-57A4-490F-A727-8370FC70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ACB28-912D-46D0-9020-F3461B91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EDB07B-116C-495A-A810-C2CA4898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07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3607E-AEE7-45E8-973F-C6A0F44E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8246A5-1EA2-4060-88B9-AEEF4D4B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B82C7B-9FB3-42C3-B7F9-D83006499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F208E3-7A6B-44D3-AAE0-436FC7D3D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BEA751-75E2-4770-AC4C-ABDE479A7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2F5611-7733-484E-B406-9B1D29C9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E223BB-96A8-4AA5-BDC6-57A8ECB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96D070-498B-4DC0-BD7D-0D38BAB0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7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CAC72-5242-47A2-8742-679E9321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C6E1FF-3A97-4325-8E27-8C31D4BC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619FB1-8673-4A00-BB46-FEE2384C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0E1D98-B347-40A5-A48A-99A25F2B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5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3D4373-5614-495A-A779-7A5B480A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325AA6-96C1-4630-B4DE-BC098226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F2DB7E-3440-41AF-915A-C05E90C7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89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D6E2C-BCA5-41E4-892B-2B8A35CD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BABE5-695C-4FC0-8127-36E6EF69E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FCF46C-D2D9-45FE-B285-2BEFDBA83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008DD-915F-4D6B-9B4C-5ADD4E2C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79F4DB-73B0-4276-897E-D7ABFC42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85446-C9EA-40EB-ACC5-3DE52791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66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478C-6799-43DC-97FA-9113AFCB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FE25A-252C-487C-AD6C-CE86A769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1453A1-AD3C-47A3-9BB6-8A5066112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20D80D-D7EB-4833-8538-CC4E4307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05F5C-D657-4864-A677-2C639444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B13AE1-764F-405F-BD36-3EEF6331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67077-9B49-47B9-A5FE-80CD7FA3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3BF900-CE03-4A93-8FF9-2AA3ADEC7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A9DC2-1C89-4838-9CDF-8489794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B5615-1957-41FA-A180-3CC494ED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83B74-F5C4-4A0F-9A7B-44261E1E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16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1D8D13-5A14-4577-BF7A-F20310C58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62C0B2-95FF-43B8-AC2D-08DD1E50D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B28C0F-C092-4F04-9B00-B43B2B15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94C4DC-42C2-4D75-BE1B-ED3AAB95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95503A-4B2D-49DD-9141-91EF78BF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63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723B-5719-4EEA-B777-EAF3DA7FDF2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A5C1-EBA6-4D9B-83CC-431CB51069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8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2CF29-2723-4C42-8522-1A6544C4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6F97B-9842-48C5-BF92-7072EB4B4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D38571-CFC5-4622-B376-FD998376A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6DA3-B598-4B8A-8255-3391DDF783A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80B3E-3EC7-431D-B69D-1ABB7A9AD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C3BBBD-9C88-4C2B-BC40-290AFD477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32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7F0CE69-87EB-4A20-A6B5-BB5F26E30EFE}"/>
              </a:ext>
            </a:extLst>
          </p:cNvPr>
          <p:cNvSpPr txBox="1">
            <a:spLocks/>
          </p:cNvSpPr>
          <p:nvPr/>
        </p:nvSpPr>
        <p:spPr>
          <a:xfrm>
            <a:off x="2956347" y="2166319"/>
            <a:ext cx="6279306" cy="22331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Дипломный проект </a:t>
            </a:r>
          </a:p>
          <a:p>
            <a:pPr marL="182880"/>
            <a:endParaRPr lang="ru-RU"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/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Информационная система учета материалов для теплоснабжающей организации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634B-476B-4A2F-BF93-37FB94D1551F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D5ABF-E9F4-4772-9280-5F7BA2804737}"/>
              </a:ext>
            </a:extLst>
          </p:cNvPr>
          <p:cNvSpPr txBox="1"/>
          <p:nvPr/>
        </p:nvSpPr>
        <p:spPr>
          <a:xfrm>
            <a:off x="6297769" y="4910703"/>
            <a:ext cx="6040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Кривогорницына Елизавета Михайловна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ИС-22-2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Михайлов С.А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01F7D-6C97-4306-9332-2700335BDBB5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276148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1778575" y="232584"/>
            <a:ext cx="8634849" cy="594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chemeClr val="accent1"/>
                </a:solidFill>
              </a:rPr>
              <a:t>Цель</a:t>
            </a:r>
            <a:r>
              <a:rPr lang="en-US" sz="3200" b="1" dirty="0">
                <a:solidFill>
                  <a:schemeClr val="accent1"/>
                </a:solidFill>
              </a:rPr>
              <a:t>, </a:t>
            </a:r>
            <a:r>
              <a:rPr lang="ru-RU" sz="3200" b="1" dirty="0">
                <a:solidFill>
                  <a:schemeClr val="accent1"/>
                </a:solidFill>
              </a:rPr>
              <a:t>задачи дипломного проектирования 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455125" y="1032938"/>
            <a:ext cx="11478650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дипломного проектирования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/>
              <a:t>разработка информационной системы учета материалов для теплоснабжающей организации, обеспечивающей учет, контроль и анализ материальных ресурсов по подразделениям в течение всего цикла к подготовке к отопительному сезону.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 дипломного проектирования</a:t>
            </a: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Анализ предметной области.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Проектирование программного продукта.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Разработка клиентской части продукта.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Разработка базы данных.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Разработка серверной части продукта.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Разработка технического задания.</a:t>
            </a:r>
            <a:endParaRPr lang="ru-RU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Тестирование информационной системы.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Разработка руководства пользователя.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2206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3298926" y="290048"/>
            <a:ext cx="863484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</a:rPr>
              <a:t>Предметная дипломного проекта </a:t>
            </a:r>
            <a:endParaRPr lang="ru-RU" sz="3200" b="1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258225" y="1094705"/>
            <a:ext cx="11675550" cy="576329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В ходе прохождения преддипломной практики возникла необходимость в создании системы для учетов материалов в теплоснабжающем предприятии. Для организации характерна выраженная сезонность: активная подготовка к отопительному сезону проводится в периоды — весной после завершения текущего сезона и осенью перед началом отопительного сезона. В эти периоды выполняются ремонтные и профилактические работы, формируются заявки, проводится закупка и распределение материалов по подразделениям. При отсутствии учета возникают риски нехватки материалов и оборудования для ремонта, дублирования закупок и ошибки в отчетности.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604486" y="1462655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06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CFF2710-5C29-443A-A696-F9786282AB5C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2820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48BD70D-31AF-4588-958D-B470BEDBD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571033"/>
              </p:ext>
            </p:extLst>
          </p:nvPr>
        </p:nvGraphicFramePr>
        <p:xfrm>
          <a:off x="510028" y="988185"/>
          <a:ext cx="11171940" cy="56334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3980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Draw.io, Visio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 Workbench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 Workbench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248937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Studio Code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Laravel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PHPUnit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K6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7718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FD79F5A1-B225-4765-B243-43A7D0327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444B-5BC2-419D-85AC-7F8C28A447C8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13020D-D3EE-E3AF-5304-F2DC65530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397" y="1435784"/>
            <a:ext cx="5429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F031036D-7889-DAC2-BAF1-BB1DEC83E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202" y="2063171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01D0C7D-03D8-3032-A891-EF942667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148" y="2734097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EF76EF1-C98B-0EB6-BE37-07711C181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191" y="3451236"/>
            <a:ext cx="5429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2384AA3-25BA-7B7A-97EF-EC3677573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490" y="4103680"/>
            <a:ext cx="51435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0619199-5B29-BA9B-215D-1079D4AF2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190" y="4824545"/>
            <a:ext cx="74295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7EA1ECC6-AD87-19C8-D775-58D574D69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423" y="5422552"/>
            <a:ext cx="48577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84001E5-1906-8977-C1A7-1ACD45A5B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621" y="5954839"/>
            <a:ext cx="752475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4" descr="https://avatars.mds.yandex.net/i?id=33b8656b808466624590987098f31cfedb1a006d-10929043-images-thumbs&amp;n=13">
            <a:extLst>
              <a:ext uri="{FF2B5EF4-FFF2-40B4-BE49-F238E27FC236}">
                <a16:creationId xmlns:a16="http://schemas.microsoft.com/office/drawing/2014/main" id="{360FBC0D-07AB-2F09-5E10-5AA2BB7CD9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2" t="14808" r="53333" b="13817"/>
          <a:stretch/>
        </p:blipFill>
        <p:spPr bwMode="auto">
          <a:xfrm>
            <a:off x="6419848" y="1428135"/>
            <a:ext cx="542926" cy="55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7B51F8E5-A11E-9E8F-5E5A-3BEBF48F9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311" y="6016751"/>
            <a:ext cx="520602" cy="5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12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675" y="35179"/>
            <a:ext cx="8928586" cy="426550"/>
          </a:xfrm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590788" y="383971"/>
            <a:ext cx="4667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вариантов использования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1C682-6ABD-4DA4-A18A-A4A9DD4F28D1}"/>
              </a:ext>
            </a:extLst>
          </p:cNvPr>
          <p:cNvSpPr txBox="1"/>
          <p:nvPr/>
        </p:nvSpPr>
        <p:spPr>
          <a:xfrm>
            <a:off x="1188873" y="4102412"/>
            <a:ext cx="2744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Картинка диаграммы </a:t>
            </a:r>
          </a:p>
          <a:p>
            <a:pPr algn="ctr"/>
            <a:r>
              <a:rPr lang="ru-RU" dirty="0"/>
              <a:t>вариантов использования</a:t>
            </a:r>
          </a:p>
          <a:p>
            <a:pPr algn="ctr"/>
            <a:r>
              <a:rPr lang="ru-RU" dirty="0"/>
              <a:t> (</a:t>
            </a:r>
            <a:r>
              <a:rPr lang="en-US" dirty="0"/>
              <a:t>USES CASE)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595D4-F499-48D9-89D6-2569A1ADA379}"/>
              </a:ext>
            </a:extLst>
          </p:cNvPr>
          <p:cNvSpPr txBox="1"/>
          <p:nvPr/>
        </p:nvSpPr>
        <p:spPr>
          <a:xfrm>
            <a:off x="6519111" y="383971"/>
            <a:ext cx="4667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деятельности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DB463-03B1-406B-8C90-94477513324D}"/>
              </a:ext>
            </a:extLst>
          </p:cNvPr>
          <p:cNvSpPr txBox="1"/>
          <p:nvPr/>
        </p:nvSpPr>
        <p:spPr>
          <a:xfrm>
            <a:off x="7328210" y="4056692"/>
            <a:ext cx="3674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диаграммы деятельности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BF0176-0C5A-94E0-19CB-4B00A2243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57" y="801441"/>
            <a:ext cx="4781897" cy="56872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7453B6-FD47-1777-F59A-03089AF98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438" y="781996"/>
            <a:ext cx="5025732" cy="56872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7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675" y="223148"/>
            <a:ext cx="8928586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1095160" y="1248389"/>
            <a:ext cx="4667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Контекстная диаграмма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1C682-6ABD-4DA4-A18A-A4A9DD4F28D1}"/>
              </a:ext>
            </a:extLst>
          </p:cNvPr>
          <p:cNvSpPr txBox="1"/>
          <p:nvPr/>
        </p:nvSpPr>
        <p:spPr>
          <a:xfrm>
            <a:off x="1797028" y="3964359"/>
            <a:ext cx="26386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Картинка КОНТЕКСТНОЙ </a:t>
            </a:r>
          </a:p>
          <a:p>
            <a:pPr algn="ctr"/>
            <a:r>
              <a:rPr lang="ru-RU" dirty="0"/>
              <a:t>диаграммы </a:t>
            </a:r>
          </a:p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595D4-F499-48D9-89D6-2569A1ADA379}"/>
              </a:ext>
            </a:extLst>
          </p:cNvPr>
          <p:cNvSpPr txBox="1"/>
          <p:nvPr/>
        </p:nvSpPr>
        <p:spPr>
          <a:xfrm>
            <a:off x="6659937" y="1248389"/>
            <a:ext cx="4667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декомпозиции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DB463-03B1-406B-8C90-94477513324D}"/>
              </a:ext>
            </a:extLst>
          </p:cNvPr>
          <p:cNvSpPr txBox="1"/>
          <p:nvPr/>
        </p:nvSpPr>
        <p:spPr>
          <a:xfrm>
            <a:off x="7328210" y="4056692"/>
            <a:ext cx="380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диаграммы декомпозиции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170815-CD45-E33D-5E37-D9697F9A0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94" y="1766099"/>
            <a:ext cx="5868473" cy="41585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B3F6C68-B750-71E3-FCF1-A4DB48E91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190" y="1766099"/>
            <a:ext cx="5868473" cy="41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91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43" y="0"/>
            <a:ext cx="7189575" cy="59561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5391279" y="595613"/>
            <a:ext cx="2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1C682-6ABD-4DA4-A18A-A4A9DD4F28D1}"/>
              </a:ext>
            </a:extLst>
          </p:cNvPr>
          <p:cNvSpPr txBox="1"/>
          <p:nvPr/>
        </p:nvSpPr>
        <p:spPr>
          <a:xfrm>
            <a:off x="4993294" y="3631721"/>
            <a:ext cx="22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</a:t>
            </a:r>
            <a:r>
              <a:rPr lang="en-US" dirty="0"/>
              <a:t>ER-</a:t>
            </a:r>
            <a:r>
              <a:rPr lang="ru-RU" dirty="0"/>
              <a:t>модели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E1420A-B4F5-929D-5486-3D5EA4AEF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738" y="995723"/>
            <a:ext cx="7627509" cy="56293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416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663" y="223148"/>
            <a:ext cx="8458323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 программного продукта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1C682-6ABD-4DA4-A18A-A4A9DD4F28D1}"/>
              </a:ext>
            </a:extLst>
          </p:cNvPr>
          <p:cNvSpPr txBox="1"/>
          <p:nvPr/>
        </p:nvSpPr>
        <p:spPr>
          <a:xfrm>
            <a:off x="7439121" y="3630001"/>
            <a:ext cx="365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Скриншот фрагмента тестирования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05201C0-CA37-4CB9-9FFC-0B245798AA0A}"/>
              </a:ext>
            </a:extLst>
          </p:cNvPr>
          <p:cNvSpPr txBox="1">
            <a:spLocks/>
          </p:cNvSpPr>
          <p:nvPr/>
        </p:nvSpPr>
        <p:spPr>
          <a:xfrm>
            <a:off x="354287" y="1661828"/>
            <a:ext cx="5595751" cy="467501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 тестирования программного продукта: 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модульное тестирование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Метод проверки отдельных модулей информационной системы учёта медицинского оборудования (контроллеров, сервисов, правил валидации) с помощью тестов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PHPUnit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 среде Laravel. Код теста представлен в </a:t>
            </a:r>
            <a:r>
              <a:rPr lang="ru-RU" sz="2000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r>
              <a:rPr lang="ru-RU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000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lang="ru-RU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000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InventoryNumberUniqueTest.php</a:t>
            </a:r>
            <a:endParaRPr lang="ru-RU" sz="2000" dirty="0">
              <a:highlight>
                <a:srgbClr val="FFFF00"/>
              </a:highligh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A75CCB-2692-38C7-B6CF-2A2BE9D0B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309" y="1941636"/>
            <a:ext cx="4713798" cy="33767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600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0BC0C-F276-4244-A7CD-BD0F4DC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779" y="2886256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дипломного продукта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D571-39F3-4865-BB27-AA37ACFF13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6539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3DB970B-9C80-46DC-8E32-7C5FC800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267" y="81542"/>
            <a:ext cx="3643659" cy="11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2937D-A278-4C52-9A34-EB4FF55CE159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chemeClr val="accent1"/>
                </a:solidFill>
              </a:rPr>
              <a:t>8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F3AF087-7F16-4D4B-BE0E-647816F63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96682"/>
              </p:ext>
            </p:extLst>
          </p:nvPr>
        </p:nvGraphicFramePr>
        <p:xfrm>
          <a:off x="351692" y="1005840"/>
          <a:ext cx="11215893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4373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041520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Виды деятельности: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Функциональные задачи программного продукта: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текст.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текст. 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7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815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795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771</Words>
  <Application>Microsoft Office PowerPoint</Application>
  <PresentationFormat>Широкоэкранный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Проектирование программного продукта</vt:lpstr>
      <vt:lpstr>Проектирование программного продукта</vt:lpstr>
      <vt:lpstr>Проектирование базы данных</vt:lpstr>
      <vt:lpstr>Тестирование программного продукта</vt:lpstr>
      <vt:lpstr>Демонстрация дипломного продукта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_Moore.Skrim_</dc:creator>
  <cp:lastModifiedBy>Adminium</cp:lastModifiedBy>
  <cp:revision>50</cp:revision>
  <dcterms:created xsi:type="dcterms:W3CDTF">2023-05-28T07:05:17Z</dcterms:created>
  <dcterms:modified xsi:type="dcterms:W3CDTF">2026-05-21T16:58:58Z</dcterms:modified>
</cp:coreProperties>
</file>