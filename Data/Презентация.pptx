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99" r:id="rId3"/>
    <p:sldId id="295" r:id="rId4"/>
    <p:sldId id="288" r:id="rId5"/>
    <p:sldId id="293" r:id="rId6"/>
    <p:sldId id="294" r:id="rId7"/>
    <p:sldId id="290" r:id="rId8"/>
    <p:sldId id="298" r:id="rId9"/>
    <p:sldId id="296" r:id="rId10"/>
    <p:sldId id="297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048" autoAdjust="0"/>
    <p:restoredTop sz="82440" autoAdjust="0"/>
  </p:normalViewPr>
  <p:slideViewPr>
    <p:cSldViewPr snapToGrid="0">
      <p:cViewPr varScale="1">
        <p:scale>
          <a:sx n="74" d="100"/>
          <a:sy n="74" d="100"/>
        </p:scale>
        <p:origin x="84" y="140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389266-1B27-4525-B165-AD1A73342BE1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AF4460-6503-445B-8A56-0254AB65E7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2505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Здравствуйте, уважаемая комиссия! Тема дипломного проекта ……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0595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Целью дипломного проектирования является создание …..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Задачи </a:t>
            </a:r>
            <a:r>
              <a:rPr lang="ru-RU" sz="1200" b="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дипломного проектирования 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представлены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слайде …….</a:t>
            </a: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ИЛИ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dirty="0">
                <a:solidFill>
                  <a:schemeClr val="accent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Функциональные задачи программного продукта: …….</a:t>
            </a:r>
            <a:endParaRPr lang="ru-RU" sz="1200" b="0" dirty="0">
              <a:solidFill>
                <a:schemeClr val="accent1"/>
              </a:solidFill>
              <a:effectLst/>
              <a:highlight>
                <a:srgbClr val="FFFF00"/>
              </a:highlight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highlight>
                <a:srgbClr val="FFFF00"/>
              </a:highlight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+mn-lt"/>
                <a:ea typeface="+mn-ea"/>
                <a:cs typeface="+mn-cs"/>
              </a:rPr>
              <a:t>Данная тема актуальна на сегодняшний момент времени, так как …… (если есть)</a:t>
            </a:r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1502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Предметной областью   веб-приложения является….  (если есть)</a:t>
            </a:r>
          </a:p>
          <a:p>
            <a:r>
              <a:rPr lang="ru-RU" dirty="0"/>
              <a:t>Это….. </a:t>
            </a:r>
            <a:endParaRPr lang="en-US" dirty="0"/>
          </a:p>
          <a:p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88730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слайде представлены инструментальные средства для разработки программного продукта, </a:t>
            </a:r>
          </a:p>
          <a:p>
            <a:pPr lvl="0"/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архитектура ...... (клиент-серверная; )</a:t>
            </a:r>
          </a:p>
          <a:p>
            <a:pPr lvl="0"/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стороне клиента использовалось веб инструменты: …..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стороне сервера использовалось: …… 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этапе проектирования….. Использовались …. Для……..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ИЛИ ПРОСТО ПЕРЕЧИСЛИТЬ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098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ru-RU" dirty="0"/>
              <a:t>На этапе функционального проектирования программного продукта построены диаграммы </a:t>
            </a:r>
          </a:p>
          <a:p>
            <a:pPr algn="l"/>
            <a:r>
              <a:rPr lang="ru-RU" dirty="0"/>
              <a:t>вариантов использования (</a:t>
            </a:r>
            <a:r>
              <a:rPr lang="en-US" dirty="0"/>
              <a:t>USES CASE)</a:t>
            </a:r>
            <a:r>
              <a:rPr lang="ru-RU" dirty="0"/>
              <a:t> на которой вделано … (вставить) … ролей .</a:t>
            </a:r>
          </a:p>
          <a:p>
            <a:pPr algn="l"/>
            <a:endParaRPr lang="ru-RU" dirty="0"/>
          </a:p>
          <a:p>
            <a:pPr algn="l"/>
            <a:r>
              <a:rPr lang="ru-RU" dirty="0"/>
              <a:t>Диаграмма деятельности  -для  моделировании бизнес-процессов, технологических процессов, и демонстрации последовательных действий.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31071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Кром того, были построены в стандарте </a:t>
            </a:r>
            <a:r>
              <a:rPr lang="en-US" dirty="0"/>
              <a:t>IDEF0 </a:t>
            </a:r>
            <a:r>
              <a:rPr lang="ru-RU" dirty="0"/>
              <a:t>контекстная диаграмма для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представления общего описания системы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ru-RU" dirty="0"/>
              <a:t>и диаграмма декомпозиции показывающие детализацию процесса……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0207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этапе проектирования базы данных, была построена ER-модель базы данных ……., которая содержит 23  таблиц….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4383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После разработки было проведено тестирование. Выбрано вид тестирования….. Это …..</a:t>
            </a:r>
          </a:p>
          <a:p>
            <a:endParaRPr lang="ru-RU" dirty="0"/>
          </a:p>
          <a:p>
            <a:r>
              <a:rPr lang="ru-RU" dirty="0"/>
              <a:t>Результат тестирования…..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69874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Демонстрация программного продукта</a:t>
            </a:r>
          </a:p>
          <a:p>
            <a:endParaRPr lang="ru-RU" dirty="0"/>
          </a:p>
          <a:p>
            <a:endParaRPr lang="ru-RU" dirty="0"/>
          </a:p>
          <a:p>
            <a:r>
              <a:rPr lang="ru-RU" dirty="0"/>
              <a:t>При работе выделены … (количество)  ролей, (назвать кто ) ….</a:t>
            </a:r>
          </a:p>
          <a:p>
            <a:r>
              <a:rPr lang="ru-RU" dirty="0"/>
              <a:t> </a:t>
            </a:r>
          </a:p>
          <a:p>
            <a:endParaRPr lang="ru-RU" dirty="0"/>
          </a:p>
          <a:p>
            <a:r>
              <a:rPr lang="ru-RU" dirty="0"/>
              <a:t>демонстрируем под заявленный функционал каждой роли (открыть в разных браузерах заранее)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67049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Таким образом в процессе дипломного проектирования продемонстрирован …..(вставить вид деятельности) в части реализации функционала …..(вставить) , </a:t>
            </a:r>
          </a:p>
          <a:p>
            <a:r>
              <a:rPr lang="ru-RU" dirty="0"/>
              <a:t>также было выполнено …… (вставить вид деятельности) через (…..вставить) , </a:t>
            </a:r>
          </a:p>
          <a:p>
            <a:endParaRPr lang="ru-RU" dirty="0"/>
          </a:p>
          <a:p>
            <a:r>
              <a:rPr lang="ru-RU" dirty="0"/>
              <a:t>В результате все цели (функциональные задачи) достигнуты (выполнены). </a:t>
            </a:r>
          </a:p>
          <a:p>
            <a:endParaRPr lang="ru-RU" dirty="0"/>
          </a:p>
          <a:p>
            <a:r>
              <a:rPr lang="ru-RU" dirty="0"/>
              <a:t>Спасибо.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7542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1B4493-E3C8-4013-ABF2-C703136AD4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63EEDF8-475E-477C-A987-9B23A98036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9BE86E1-9F5F-4CEA-9D81-1F2C8E07B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ABC3810-D6CA-4B12-8AA5-7DF5CF3DD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09063BE-EA16-48A3-8992-B29920A9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9572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E051D6-DACB-4E1D-B3E0-21F301A0D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931C8D4-6D3B-47D5-8ECA-4F425CA308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D3EBD8D-49BF-4A85-BA57-68ACD048A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8418BAA-0EBC-4340-9638-224B4EABD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AA35976-5D74-40E0-B296-CE85083F7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465041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38989C5-6A8D-4F34-9C66-848ABDAD9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322CCB1-09A5-4E67-BCED-44887574F3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C591265-AA85-4038-980E-0E4D6AC215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659D130-0296-4360-ADC0-0EEDB20F4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FF94C0C-4CED-4A84-A745-4ED26194C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5505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7F1C38-6D54-43A4-9A28-970F3680F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AD84946-3751-48EB-9B3F-73DBB7897C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F62CF63-5B79-45B2-B784-CE7648A1BD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1C32103-57A4-490F-A727-8370FC704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94ACB28-912D-46D0-9020-F3461B91B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6EDB07B-116C-495A-A810-C2CA4898F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30757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043607E-AEE7-45E8-973F-C6A0F44E6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38246A5-1EA2-4060-88B9-AEEF4D4BA2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8B82C7B-9FB3-42C3-B7F9-D830064995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51F208E3-7A6B-44D3-AAE0-436FC7D3DA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15BEA751-75E2-4770-AC4C-ABDE479A72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5C2F5611-7733-484E-B406-9B1D29C93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F4E223BB-96A8-4AA5-BDC6-57A8ECBA9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A096D070-498B-4DC0-BD7D-0D38BAB0C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17245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8CAC72-5242-47A2-8742-679E932105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21C6E1FF-3A97-4325-8E27-8C31D4BC6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3E619FB1-8673-4A00-BB46-FEE2384C2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D0E1D98-B347-40A5-A48A-99A25F2B7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16516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D3D4373-5614-495A-A779-7A5B480A21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ED325AA6-96C1-4630-B4DE-BC098226B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3F2DB7E-3440-41AF-915A-C05E90C72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658980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5CD6E2C-BCA5-41E4-892B-2B8A35CDE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38BABE5-695C-4FC0-8127-36E6EF69ED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9FCF46C-D2D9-45FE-B285-2BEFDBA837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A0008DD-915F-4D6B-9B4C-5ADD4E2C2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579F4DB-73B0-4276-897E-D7ABFC42E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1385446-C9EA-40EB-ACC5-3DE527918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7668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20478C-6799-43DC-97FA-9113AFCBB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A1EFE25A-252C-487C-AD6C-CE86A769DAD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31453A1-AD3C-47A3-9BB6-8A50661121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A20D80D-D7EB-4833-8538-CC4E43070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6705F5C-D657-4864-A677-2C6394448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2B13AE1-764F-405F-BD36-3EEF63317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37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067077-9B49-47B9-A5FE-80CD7FA38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63BF900-CE03-4A93-8FF9-2AA3ADEC76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0AA9DC2-1C89-4838-9CDF-84897948C1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FEB5615-1957-41FA-A180-3CC494ED1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4583B74-F5C4-4A0F-9A7B-44261E1E0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51688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981D8D13-5A14-4577-BF7A-F20310C58B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862C0B2-95FF-43B8-AC2D-08DD1E50D1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FB28C0F-C092-4F04-9B00-B43B2B151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494C4DC-42C2-4D75-BE1B-ED3AAB95E7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B95503A-4B2D-49DD-9141-91EF78BF4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656364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A723B-5719-4EEA-B777-EAF3DA7FDF21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04A5C1-EBA6-4D9B-83CC-431CB510693B}" type="slidenum">
              <a:rPr lang="ru-RU" smtClean="0"/>
              <a:t>‹#›</a:t>
            </a:fld>
            <a:endParaRPr lang="ru-RU"/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0" name="Content Placeholder 9"/>
          <p:cNvSpPr>
            <a:spLocks noGrp="1"/>
          </p:cNvSpPr>
          <p:nvPr>
            <p:ph sz="quarter" idx="13"/>
          </p:nvPr>
        </p:nvSpPr>
        <p:spPr>
          <a:xfrm>
            <a:off x="1524000" y="731520"/>
            <a:ext cx="8534400" cy="347472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78833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0B2CF29-2723-4C42-8522-1A6544C4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3B6F97B-9842-48C5-BF92-7072EB4B48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BD38571-CFC5-4622-B376-FD998376A1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A76DA3-B598-4B8A-8255-3391DDF783A7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8B80B3E-3EC7-431D-B69D-1ABB7A9AD6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BC3BBBD-9C88-4C2B-BC40-290AFD4778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4321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jpeg"/><Relationship Id="rId4" Type="http://schemas.openxmlformats.org/officeDocument/2006/relationships/image" Target="../media/image2.png"/><Relationship Id="rId9" Type="http://schemas.openxmlformats.org/officeDocument/2006/relationships/image" Target="../media/image7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37F0CE69-87EB-4A20-A6B5-BB5F26E30EFE}"/>
              </a:ext>
            </a:extLst>
          </p:cNvPr>
          <p:cNvSpPr txBox="1">
            <a:spLocks/>
          </p:cNvSpPr>
          <p:nvPr/>
        </p:nvSpPr>
        <p:spPr>
          <a:xfrm>
            <a:off x="270456" y="2166319"/>
            <a:ext cx="11281893" cy="223315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50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82880"/>
            <a:r>
              <a:rPr lang="ru-RU" sz="4400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Дипломный проект </a:t>
            </a:r>
          </a:p>
          <a:p>
            <a:pPr marL="182880"/>
            <a:endParaRPr lang="ru-RU" sz="4400" dirty="0">
              <a:solidFill>
                <a:schemeClr val="accent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82880"/>
            <a:r>
              <a:rPr lang="ru-RU" sz="4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Информационная система учета материалов для теплоснабжающей организации</a:t>
            </a:r>
            <a:endParaRPr lang="ru-RU" sz="4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D5634B-476B-4A2F-BF93-37FB94D1551F}"/>
              </a:ext>
            </a:extLst>
          </p:cNvPr>
          <p:cNvSpPr txBox="1"/>
          <p:nvPr/>
        </p:nvSpPr>
        <p:spPr>
          <a:xfrm>
            <a:off x="3273112" y="328071"/>
            <a:ext cx="564577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Министерство образования Иркутской области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Государственное бюджетное профессиональное </a:t>
            </a:r>
          </a:p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образовательное учреждение Иркутской области</a:t>
            </a:r>
          </a:p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«Иркутский авиационный техникум»</a:t>
            </a:r>
          </a:p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(ГБПОУИО «ИАТ»)</a:t>
            </a:r>
          </a:p>
          <a:p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0D5ABF-E9F4-4772-9280-5F7BA2804737}"/>
              </a:ext>
            </a:extLst>
          </p:cNvPr>
          <p:cNvSpPr txBox="1"/>
          <p:nvPr/>
        </p:nvSpPr>
        <p:spPr>
          <a:xfrm>
            <a:off x="6297769" y="4910703"/>
            <a:ext cx="60408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Выполнил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Кривогорницына Елизавета Михайловна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Группа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ИС-22-2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Руководитель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Михайлов С.А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D01F7D-6C97-4306-9332-2700335BDBB5}"/>
              </a:ext>
            </a:extLst>
          </p:cNvPr>
          <p:cNvSpPr txBox="1"/>
          <p:nvPr/>
        </p:nvSpPr>
        <p:spPr>
          <a:xfrm>
            <a:off x="5356310" y="6345263"/>
            <a:ext cx="159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Иркутск 2026</a:t>
            </a:r>
          </a:p>
        </p:txBody>
      </p:sp>
    </p:spTree>
    <p:extLst>
      <p:ext uri="{BB962C8B-B14F-4D97-AF65-F5344CB8AC3E}">
        <p14:creationId xmlns:p14="http://schemas.microsoft.com/office/powerpoint/2010/main" val="27614804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E5F768B2-AD3E-48D3-8D9E-B85855A1D699}"/>
              </a:ext>
            </a:extLst>
          </p:cNvPr>
          <p:cNvSpPr txBox="1">
            <a:spLocks/>
          </p:cNvSpPr>
          <p:nvPr/>
        </p:nvSpPr>
        <p:spPr>
          <a:xfrm>
            <a:off x="1778575" y="232584"/>
            <a:ext cx="8634849" cy="5941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3200" b="1" dirty="0">
                <a:solidFill>
                  <a:schemeClr val="accent1"/>
                </a:solidFill>
              </a:rPr>
              <a:t>Цель</a:t>
            </a:r>
            <a:r>
              <a:rPr lang="en-US" sz="3200" b="1" dirty="0">
                <a:solidFill>
                  <a:schemeClr val="accent1"/>
                </a:solidFill>
              </a:rPr>
              <a:t>, </a:t>
            </a:r>
            <a:r>
              <a:rPr lang="ru-RU" sz="3200" b="1" dirty="0">
                <a:solidFill>
                  <a:schemeClr val="accent1"/>
                </a:solidFill>
              </a:rPr>
              <a:t>задачи дипломного проектирования </a:t>
            </a:r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975B4357-85C4-48BF-8D26-ED26BD6CFFAD}"/>
              </a:ext>
            </a:extLst>
          </p:cNvPr>
          <p:cNvSpPr txBox="1">
            <a:spLocks/>
          </p:cNvSpPr>
          <p:nvPr/>
        </p:nvSpPr>
        <p:spPr>
          <a:xfrm>
            <a:off x="455125" y="1032938"/>
            <a:ext cx="11478650" cy="5244355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0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Цель дипломного проектирования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dirty="0"/>
              <a:t>разработка информационной системы учета материалов для теплоснабжающей организации, обеспечивающей учет, контроль и анализ материальных ресурсов по подразделениям в течение всего цикла к подготовке к отопительному сезону.</a:t>
            </a: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just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ru-RU" sz="20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Задачи дипломного проектирования</a:t>
            </a:r>
            <a:r>
              <a:rPr lang="en-US" sz="20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342900" lvl="0" indent="-342900" algn="just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tabLst>
                <a:tab pos="810260" algn="l"/>
              </a:tabLst>
            </a:pPr>
            <a:r>
              <a:rPr lang="ru-RU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Анализ предметной области.</a:t>
            </a:r>
          </a:p>
          <a:p>
            <a:pPr marL="342900" lvl="0" indent="-342900" algn="just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tabLst>
                <a:tab pos="810260" algn="l"/>
              </a:tabLst>
            </a:pPr>
            <a:r>
              <a:rPr lang="ru-RU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Проектирование программного продукта.</a:t>
            </a:r>
          </a:p>
          <a:p>
            <a:pPr marL="342900" lvl="0" indent="-342900" algn="just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tabLst>
                <a:tab pos="810260" algn="l"/>
              </a:tabLst>
            </a:pPr>
            <a:r>
              <a:rPr lang="ru-RU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Разработка клиентской части продукта.</a:t>
            </a:r>
          </a:p>
          <a:p>
            <a:pPr marL="342900" lvl="0" indent="-342900" algn="just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tabLst>
                <a:tab pos="810260" algn="l"/>
              </a:tabLst>
            </a:pPr>
            <a:r>
              <a:rPr lang="ru-RU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Разработка базы данных.</a:t>
            </a:r>
          </a:p>
          <a:p>
            <a:pPr marL="342900" lvl="0" indent="-342900" algn="just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tabLst>
                <a:tab pos="810260" algn="l"/>
              </a:tabLst>
            </a:pPr>
            <a:r>
              <a:rPr lang="ru-RU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Разработка серверной части продукта.</a:t>
            </a:r>
          </a:p>
          <a:p>
            <a:pPr marL="342900" lvl="0" indent="-342900" algn="just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tabLst>
                <a:tab pos="810260" algn="l"/>
              </a:tabLst>
            </a:pPr>
            <a:r>
              <a:rPr lang="ru-RU" sz="18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Разработка технического задания.</a:t>
            </a:r>
            <a:endParaRPr lang="ru-RU" sz="1800" dirty="0">
              <a:solidFill>
                <a:srgbClr val="000000"/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342900" lvl="0" indent="-342900" algn="just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tabLst>
                <a:tab pos="810260" algn="l"/>
              </a:tabLst>
            </a:pPr>
            <a:r>
              <a:rPr lang="ru-RU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Тестирование информационной системы.</a:t>
            </a:r>
          </a:p>
          <a:p>
            <a:pPr marL="342900" lvl="0" indent="-342900" algn="just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tabLst>
                <a:tab pos="810260" algn="l"/>
              </a:tabLst>
            </a:pPr>
            <a:r>
              <a:rPr lang="ru-RU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Разработка руководства пользователя.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0DA046-37F4-4DE3-B662-ED8DB0206F28}"/>
              </a:ext>
            </a:extLst>
          </p:cNvPr>
          <p:cNvSpPr txBox="1"/>
          <p:nvPr/>
        </p:nvSpPr>
        <p:spPr>
          <a:xfrm>
            <a:off x="11388491" y="6277293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accent1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9220685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E5F768B2-AD3E-48D3-8D9E-B85855A1D699}"/>
              </a:ext>
            </a:extLst>
          </p:cNvPr>
          <p:cNvSpPr txBox="1">
            <a:spLocks/>
          </p:cNvSpPr>
          <p:nvPr/>
        </p:nvSpPr>
        <p:spPr>
          <a:xfrm>
            <a:off x="3298926" y="290048"/>
            <a:ext cx="8634849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200" b="1" dirty="0">
                <a:solidFill>
                  <a:schemeClr val="accent1"/>
                </a:solidFill>
              </a:rPr>
              <a:t>Предметная дипломного проекта </a:t>
            </a:r>
            <a:endParaRPr lang="ru-RU" sz="3200" b="1" dirty="0"/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975B4357-85C4-48BF-8D26-ED26BD6CFFAD}"/>
              </a:ext>
            </a:extLst>
          </p:cNvPr>
          <p:cNvSpPr txBox="1">
            <a:spLocks/>
          </p:cNvSpPr>
          <p:nvPr/>
        </p:nvSpPr>
        <p:spPr>
          <a:xfrm>
            <a:off x="258225" y="1094705"/>
            <a:ext cx="11675550" cy="5763296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dirty="0"/>
              <a:t>В ходе прохождения преддипломной практики возникла необходимость в создании системы для учетов материалов в теплоснабжающем предприятии. Для организации характерна выраженная сезонность: активная подготовка к отопительному сезону проводится в периоды — весной после завершения текущего сезона и осенью перед началом отопительного сезона. В эти периоды выполняются ремонтные и профилактические работы, формируются заявки, проводится закупка и распределение материалов по подразделениям. При отсутствии учета возникают риски нехватки материалов и оборудования для ремонта, дублирования закупок и ошибки в отчетности.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0DA046-37F4-4DE3-B662-ED8DB0206F28}"/>
              </a:ext>
            </a:extLst>
          </p:cNvPr>
          <p:cNvSpPr txBox="1"/>
          <p:nvPr/>
        </p:nvSpPr>
        <p:spPr>
          <a:xfrm>
            <a:off x="11388491" y="6277293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accent1"/>
                </a:solidFill>
              </a:rPr>
              <a:t>3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ED6FD72F-91C7-4F3D-B4FA-3362BA398D1C}"/>
              </a:ext>
            </a:extLst>
          </p:cNvPr>
          <p:cNvSpPr txBox="1">
            <a:spLocks/>
          </p:cNvSpPr>
          <p:nvPr/>
        </p:nvSpPr>
        <p:spPr>
          <a:xfrm>
            <a:off x="6604486" y="1462655"/>
            <a:ext cx="5507001" cy="5244355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165100" lvl="0" indent="0" algn="just">
              <a:spcAft>
                <a:spcPts val="0"/>
              </a:spcAft>
              <a:buNone/>
            </a:pPr>
            <a:endParaRPr lang="ru-RU" sz="1800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10645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9CFF2710-5C29-443A-A696-F9786282AB5C}"/>
              </a:ext>
            </a:extLst>
          </p:cNvPr>
          <p:cNvSpPr txBox="1">
            <a:spLocks/>
          </p:cNvSpPr>
          <p:nvPr/>
        </p:nvSpPr>
        <p:spPr>
          <a:xfrm>
            <a:off x="1699404" y="-100195"/>
            <a:ext cx="9282022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2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Инструментальные средства разработки</a:t>
            </a:r>
          </a:p>
        </p:txBody>
      </p:sp>
      <p:graphicFrame>
        <p:nvGraphicFramePr>
          <p:cNvPr id="2" name="Таблица 2">
            <a:extLst>
              <a:ext uri="{FF2B5EF4-FFF2-40B4-BE49-F238E27FC236}">
                <a16:creationId xmlns:a16="http://schemas.microsoft.com/office/drawing/2014/main" id="{B48BD70D-31AF-4588-958D-B470BEDBD8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3571033"/>
              </p:ext>
            </p:extLst>
          </p:nvPr>
        </p:nvGraphicFramePr>
        <p:xfrm>
          <a:off x="510028" y="988185"/>
          <a:ext cx="11171940" cy="563342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723980">
                  <a:extLst>
                    <a:ext uri="{9D8B030D-6E8A-4147-A177-3AD203B41FA5}">
                      <a16:colId xmlns:a16="http://schemas.microsoft.com/office/drawing/2014/main" val="489332136"/>
                    </a:ext>
                  </a:extLst>
                </a:gridCol>
                <a:gridCol w="3723980">
                  <a:extLst>
                    <a:ext uri="{9D8B030D-6E8A-4147-A177-3AD203B41FA5}">
                      <a16:colId xmlns:a16="http://schemas.microsoft.com/office/drawing/2014/main" val="699667990"/>
                    </a:ext>
                  </a:extLst>
                </a:gridCol>
                <a:gridCol w="3723980">
                  <a:extLst>
                    <a:ext uri="{9D8B030D-6E8A-4147-A177-3AD203B41FA5}">
                      <a16:colId xmlns:a16="http://schemas.microsoft.com/office/drawing/2014/main" val="3597329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Этап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Изображение (логотип)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Название инструмента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5068126"/>
                  </a:ext>
                </a:extLst>
              </a:tr>
              <a:tr h="712120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Проектирование программного продукта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Draw.io, Visio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4190659"/>
                  </a:ext>
                </a:extLst>
              </a:tr>
              <a:tr h="65079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Проектирование базы данных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MySQL Workbench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5179013"/>
                  </a:ext>
                </a:extLst>
              </a:tr>
              <a:tr h="65079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Реализация базы данных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MySQL Workbench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1248937"/>
                  </a:ext>
                </a:extLst>
              </a:tr>
              <a:tr h="65079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Проектирование интерфейса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Draw.io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0060549"/>
                  </a:ext>
                </a:extLst>
              </a:tr>
              <a:tr h="65079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Разработка </a:t>
                      </a:r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среда разработки)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Visual Studio Code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8600580"/>
                  </a:ext>
                </a:extLst>
              </a:tr>
              <a:tr h="65079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Разработка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PHP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050000"/>
                  </a:ext>
                </a:extLst>
              </a:tr>
              <a:tr h="65079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Разработка(фреймворки)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Laravel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8350619"/>
                  </a:ext>
                </a:extLst>
              </a:tr>
              <a:tr h="65079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Тестирование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PHPUnit</a:t>
                      </a:r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K6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0927718"/>
                  </a:ext>
                </a:extLst>
              </a:tr>
            </a:tbl>
          </a:graphicData>
        </a:graphic>
      </p:graphicFrame>
      <p:sp>
        <p:nvSpPr>
          <p:cNvPr id="6" name="AutoShape 4" descr="Visual Studio Code Logo Vector SVG Icon - SVG Repo">
            <a:extLst>
              <a:ext uri="{FF2B5EF4-FFF2-40B4-BE49-F238E27FC236}">
                <a16:creationId xmlns:a16="http://schemas.microsoft.com/office/drawing/2014/main" id="{FD79F5A1-B225-4765-B243-43A7D0327C0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CF444B-5BC2-419D-85AC-7F8C28A447C8}"/>
              </a:ext>
            </a:extLst>
          </p:cNvPr>
          <p:cNvSpPr txBox="1"/>
          <p:nvPr/>
        </p:nvSpPr>
        <p:spPr>
          <a:xfrm>
            <a:off x="11646716" y="6421554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accent1"/>
                </a:solidFill>
              </a:rPr>
              <a:t>4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013020D-D3EE-E3AF-5304-F2DC655302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3397" y="1435784"/>
            <a:ext cx="542925" cy="542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>
            <a:extLst>
              <a:ext uri="{FF2B5EF4-FFF2-40B4-BE49-F238E27FC236}">
                <a16:creationId xmlns:a16="http://schemas.microsoft.com/office/drawing/2014/main" id="{F031036D-7889-DAC2-BAF1-BB1DEC83E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3202" y="2063171"/>
            <a:ext cx="647700" cy="64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C01D0C7D-03D8-3032-A891-EF94266732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2148" y="2734097"/>
            <a:ext cx="647700" cy="64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>
            <a:extLst>
              <a:ext uri="{FF2B5EF4-FFF2-40B4-BE49-F238E27FC236}">
                <a16:creationId xmlns:a16="http://schemas.microsoft.com/office/drawing/2014/main" id="{2EF76EF1-C98B-0EB6-BE37-07711C1811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8191" y="3451236"/>
            <a:ext cx="542925" cy="542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52384AA3-25BA-7B7A-97EF-EC3677573C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7490" y="4103680"/>
            <a:ext cx="514350" cy="504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60619199-5B29-BA9B-215D-1079D4AF20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3190" y="4824545"/>
            <a:ext cx="742950" cy="400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9">
            <a:extLst>
              <a:ext uri="{FF2B5EF4-FFF2-40B4-BE49-F238E27FC236}">
                <a16:creationId xmlns:a16="http://schemas.microsoft.com/office/drawing/2014/main" id="{7EA1ECC6-AD87-19C8-D775-58D574D69C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4423" y="5422552"/>
            <a:ext cx="485775" cy="485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884001E5-1906-8977-C1A7-1ACD45A5BF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8621" y="5954839"/>
            <a:ext cx="752475" cy="628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14" descr="https://avatars.mds.yandex.net/i?id=33b8656b808466624590987098f31cfedb1a006d-10929043-images-thumbs&amp;n=13">
            <a:extLst>
              <a:ext uri="{FF2B5EF4-FFF2-40B4-BE49-F238E27FC236}">
                <a16:creationId xmlns:a16="http://schemas.microsoft.com/office/drawing/2014/main" id="{360FBC0D-07AB-2F09-5E10-5AA2BB7CD9C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2" t="14808" r="53333" b="13817"/>
          <a:stretch/>
        </p:blipFill>
        <p:spPr bwMode="auto">
          <a:xfrm>
            <a:off x="6419848" y="1428135"/>
            <a:ext cx="542926" cy="550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Picture background">
            <a:extLst>
              <a:ext uri="{FF2B5EF4-FFF2-40B4-BE49-F238E27FC236}">
                <a16:creationId xmlns:a16="http://schemas.microsoft.com/office/drawing/2014/main" id="{7B51F8E5-A11E-9E8F-5E5A-3BEBF48F9E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1311" y="6016751"/>
            <a:ext cx="520602" cy="504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81211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21EA8F00-3DD0-4256-8C2D-D62221C45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1675" y="35179"/>
            <a:ext cx="8928586" cy="426550"/>
          </a:xfrm>
        </p:spPr>
        <p:txBody>
          <a:bodyPr>
            <a:normAutofit fontScale="90000"/>
          </a:bodyPr>
          <a:lstStyle/>
          <a:p>
            <a:pPr marL="0" indent="0" algn="l">
              <a:buNone/>
            </a:pPr>
            <a:r>
              <a:rPr lang="ru-RU" sz="32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Проектирование программного продукта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B9F4FE-3FA8-43BD-A563-A96EBAA4E414}"/>
              </a:ext>
            </a:extLst>
          </p:cNvPr>
          <p:cNvSpPr txBox="1"/>
          <p:nvPr/>
        </p:nvSpPr>
        <p:spPr>
          <a:xfrm>
            <a:off x="590788" y="383971"/>
            <a:ext cx="46674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Диаграмма вариантов использования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35AB10-481D-490B-8F68-3E2ED02099F5}"/>
              </a:ext>
            </a:extLst>
          </p:cNvPr>
          <p:cNvSpPr txBox="1"/>
          <p:nvPr/>
        </p:nvSpPr>
        <p:spPr>
          <a:xfrm>
            <a:off x="11541379" y="6288656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accent1"/>
                </a:solidFill>
              </a:rPr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91C682-6ABD-4DA4-A18A-A4A9DD4F28D1}"/>
              </a:ext>
            </a:extLst>
          </p:cNvPr>
          <p:cNvSpPr txBox="1"/>
          <p:nvPr/>
        </p:nvSpPr>
        <p:spPr>
          <a:xfrm>
            <a:off x="1188873" y="4102412"/>
            <a:ext cx="274421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Картинка диаграммы </a:t>
            </a:r>
          </a:p>
          <a:p>
            <a:pPr algn="ctr"/>
            <a:r>
              <a:rPr lang="ru-RU" dirty="0"/>
              <a:t>вариантов использования</a:t>
            </a:r>
          </a:p>
          <a:p>
            <a:pPr algn="ctr"/>
            <a:r>
              <a:rPr lang="ru-RU" dirty="0"/>
              <a:t> (</a:t>
            </a:r>
            <a:r>
              <a:rPr lang="en-US" dirty="0"/>
              <a:t>USES CASE)</a:t>
            </a:r>
            <a:endParaRPr lang="ru-R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5595D4-F499-48D9-89D6-2569A1ADA379}"/>
              </a:ext>
            </a:extLst>
          </p:cNvPr>
          <p:cNvSpPr txBox="1"/>
          <p:nvPr/>
        </p:nvSpPr>
        <p:spPr>
          <a:xfrm>
            <a:off x="6519111" y="383971"/>
            <a:ext cx="46674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Диаграмма деятельности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5DB463-03B1-406B-8C90-94477513324D}"/>
              </a:ext>
            </a:extLst>
          </p:cNvPr>
          <p:cNvSpPr txBox="1"/>
          <p:nvPr/>
        </p:nvSpPr>
        <p:spPr>
          <a:xfrm>
            <a:off x="7328210" y="4056692"/>
            <a:ext cx="3674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Картинка диаграммы деятельности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FBF0176-0C5A-94E0-19CB-4B00A22434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557" y="801441"/>
            <a:ext cx="4781897" cy="56872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77453B6-FD47-1777-F59A-03089AF983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2438" y="781996"/>
            <a:ext cx="5025732" cy="568727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467793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21EA8F00-3DD0-4256-8C2D-D62221C45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2675" y="223148"/>
            <a:ext cx="8928586" cy="1143000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sz="32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Проектирование программного продукта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B9F4FE-3FA8-43BD-A563-A96EBAA4E414}"/>
              </a:ext>
            </a:extLst>
          </p:cNvPr>
          <p:cNvSpPr txBox="1"/>
          <p:nvPr/>
        </p:nvSpPr>
        <p:spPr>
          <a:xfrm>
            <a:off x="1095160" y="1248389"/>
            <a:ext cx="46674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Контекстная диаграмма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35AB10-481D-490B-8F68-3E2ED02099F5}"/>
              </a:ext>
            </a:extLst>
          </p:cNvPr>
          <p:cNvSpPr txBox="1"/>
          <p:nvPr/>
        </p:nvSpPr>
        <p:spPr>
          <a:xfrm>
            <a:off x="11541379" y="6288656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accent1"/>
                </a:solidFill>
              </a:rPr>
              <a:t>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91C682-6ABD-4DA4-A18A-A4A9DD4F28D1}"/>
              </a:ext>
            </a:extLst>
          </p:cNvPr>
          <p:cNvSpPr txBox="1"/>
          <p:nvPr/>
        </p:nvSpPr>
        <p:spPr>
          <a:xfrm>
            <a:off x="1797028" y="3964359"/>
            <a:ext cx="263860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Картинка КОНТЕКСТНОЙ </a:t>
            </a:r>
          </a:p>
          <a:p>
            <a:pPr algn="ctr"/>
            <a:r>
              <a:rPr lang="ru-RU" dirty="0"/>
              <a:t>диаграммы </a:t>
            </a:r>
          </a:p>
          <a:p>
            <a:pPr algn="ctr"/>
            <a:endParaRPr lang="ru-R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5595D4-F499-48D9-89D6-2569A1ADA379}"/>
              </a:ext>
            </a:extLst>
          </p:cNvPr>
          <p:cNvSpPr txBox="1"/>
          <p:nvPr/>
        </p:nvSpPr>
        <p:spPr>
          <a:xfrm>
            <a:off x="6659937" y="1248389"/>
            <a:ext cx="46674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Диаграмма декомпозиции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5DB463-03B1-406B-8C90-94477513324D}"/>
              </a:ext>
            </a:extLst>
          </p:cNvPr>
          <p:cNvSpPr txBox="1"/>
          <p:nvPr/>
        </p:nvSpPr>
        <p:spPr>
          <a:xfrm>
            <a:off x="7328210" y="4056692"/>
            <a:ext cx="38041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Картинка диаграммы декомпозиции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6170815-CD45-E33D-5E37-D9697F9A0F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24" y="1766099"/>
            <a:ext cx="5711769" cy="4047474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4DFA6425-4985-E7BC-9429-BCF5F61DE3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5239" y="1766099"/>
            <a:ext cx="5940966" cy="404747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799910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21EA8F00-3DD0-4256-8C2D-D62221C45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53043" y="0"/>
            <a:ext cx="7189575" cy="595613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sz="32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Проектирование базы данных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B9F4FE-3FA8-43BD-A563-A96EBAA4E414}"/>
              </a:ext>
            </a:extLst>
          </p:cNvPr>
          <p:cNvSpPr txBox="1"/>
          <p:nvPr/>
        </p:nvSpPr>
        <p:spPr>
          <a:xfrm>
            <a:off x="5391279" y="595613"/>
            <a:ext cx="2424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ER-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модель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35AB10-481D-490B-8F68-3E2ED02099F5}"/>
              </a:ext>
            </a:extLst>
          </p:cNvPr>
          <p:cNvSpPr txBox="1"/>
          <p:nvPr/>
        </p:nvSpPr>
        <p:spPr>
          <a:xfrm>
            <a:off x="11541379" y="6288656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accent1"/>
                </a:solidFill>
              </a:rPr>
              <a:t>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91C682-6ABD-4DA4-A18A-A4A9DD4F28D1}"/>
              </a:ext>
            </a:extLst>
          </p:cNvPr>
          <p:cNvSpPr txBox="1"/>
          <p:nvPr/>
        </p:nvSpPr>
        <p:spPr>
          <a:xfrm>
            <a:off x="4993294" y="3631721"/>
            <a:ext cx="2205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Картинка </a:t>
            </a:r>
            <a:r>
              <a:rPr lang="en-US" dirty="0"/>
              <a:t>ER-</a:t>
            </a:r>
            <a:r>
              <a:rPr lang="ru-RU" dirty="0"/>
              <a:t>модели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17F2C6E3-71D0-9DCE-96B6-2EE55687674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4824" y="1191226"/>
            <a:ext cx="8942352" cy="54144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041691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21EA8F00-3DD0-4256-8C2D-D62221C45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4663" y="223148"/>
            <a:ext cx="8458323" cy="1143000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sz="32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Тестирование программного продукта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35AB10-481D-490B-8F68-3E2ED02099F5}"/>
              </a:ext>
            </a:extLst>
          </p:cNvPr>
          <p:cNvSpPr txBox="1"/>
          <p:nvPr/>
        </p:nvSpPr>
        <p:spPr>
          <a:xfrm>
            <a:off x="11541379" y="6288656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accent1"/>
                </a:solidFill>
              </a:rPr>
              <a:t>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91C682-6ABD-4DA4-A18A-A4A9DD4F28D1}"/>
              </a:ext>
            </a:extLst>
          </p:cNvPr>
          <p:cNvSpPr txBox="1"/>
          <p:nvPr/>
        </p:nvSpPr>
        <p:spPr>
          <a:xfrm>
            <a:off x="7439121" y="3630001"/>
            <a:ext cx="36574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Скриншот фрагмента тестирования</a:t>
            </a:r>
          </a:p>
        </p:txBody>
      </p:sp>
      <p:sp>
        <p:nvSpPr>
          <p:cNvPr id="8" name="Объект 2">
            <a:extLst>
              <a:ext uri="{FF2B5EF4-FFF2-40B4-BE49-F238E27FC236}">
                <a16:creationId xmlns:a16="http://schemas.microsoft.com/office/drawing/2014/main" id="{F05201C0-CA37-4CB9-9FFC-0B245798AA0A}"/>
              </a:ext>
            </a:extLst>
          </p:cNvPr>
          <p:cNvSpPr txBox="1">
            <a:spLocks/>
          </p:cNvSpPr>
          <p:nvPr/>
        </p:nvSpPr>
        <p:spPr>
          <a:xfrm>
            <a:off x="354287" y="1661828"/>
            <a:ext cx="5595751" cy="4675011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ru-RU" sz="20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Вид тестирования программного продукта:  </a:t>
            </a:r>
            <a:r>
              <a:rPr lang="ru-RU" sz="2000" b="1" dirty="0">
                <a:latin typeface="Arial" panose="020B0604020202020204" pitchFamily="34" charset="0"/>
                <a:cs typeface="Arial" panose="020B0604020202020204" pitchFamily="34" charset="0"/>
              </a:rPr>
              <a:t>модульное тестирование</a:t>
            </a:r>
          </a:p>
          <a:p>
            <a:pPr marL="0" indent="0">
              <a:buNone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Метод проверки отдельных модулей информационной системы учёта материалов (контроллеров, сервисов, правил валидации) с помощью тестов </a:t>
            </a:r>
            <a:r>
              <a:rPr lang="ru-RU" sz="2000" dirty="0" err="1">
                <a:latin typeface="Arial" panose="020B0604020202020204" pitchFamily="34" charset="0"/>
                <a:cs typeface="Arial" panose="020B0604020202020204" pitchFamily="34" charset="0"/>
              </a:rPr>
              <a:t>PHPUnit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 в среде Laravel. Код теста представлен в </a:t>
            </a:r>
            <a:r>
              <a:rPr lang="ru-RU" sz="2000" dirty="0" err="1">
                <a:latin typeface="Arial" panose="020B0604020202020204" pitchFamily="34" charset="0"/>
                <a:cs typeface="Arial" panose="020B0604020202020204" pitchFamily="34" charset="0"/>
              </a:rPr>
              <a:t>tests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ru-RU" sz="2000" dirty="0" err="1">
                <a:latin typeface="Arial" panose="020B0604020202020204" pitchFamily="34" charset="0"/>
                <a:cs typeface="Arial" panose="020B0604020202020204" pitchFamily="34" charset="0"/>
              </a:rPr>
              <a:t>Feature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FuncPos02LayoutApplicationTest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r>
              <a:rPr lang="ru-RU" sz="2000" dirty="0" err="1">
                <a:latin typeface="Arial" panose="020B0604020202020204" pitchFamily="34" charset="0"/>
                <a:cs typeface="Arial" panose="020B0604020202020204" pitchFamily="34" charset="0"/>
              </a:rPr>
              <a:t>php</a:t>
            </a:r>
            <a:endParaRPr lang="ru-RU" sz="20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EA75CCB-2692-38C7-B6CF-2A2BE9D0B7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309" y="1941636"/>
            <a:ext cx="4713798" cy="337672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5560082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00BC0C-F276-4244-A7CD-BD0F4DCD93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2766218"/>
            <a:ext cx="11388979" cy="1325563"/>
          </a:xfrm>
        </p:spPr>
        <p:txBody>
          <a:bodyPr/>
          <a:lstStyle/>
          <a:p>
            <a:r>
              <a:rPr lang="ru-RU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Демонстрация программного продукта</a:t>
            </a:r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FBD571-39F3-4865-BB27-AA37ACFF1329}"/>
              </a:ext>
            </a:extLst>
          </p:cNvPr>
          <p:cNvSpPr txBox="1"/>
          <p:nvPr/>
        </p:nvSpPr>
        <p:spPr>
          <a:xfrm>
            <a:off x="11541379" y="6288656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accent1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865398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03DB970B-9C80-46DC-8E32-7C5FC8006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0267" y="81542"/>
            <a:ext cx="3643659" cy="114300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ru-RU" sz="32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Вывод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02937D-A278-4C52-9A34-EB4FF55CE159}"/>
              </a:ext>
            </a:extLst>
          </p:cNvPr>
          <p:cNvSpPr txBox="1"/>
          <p:nvPr/>
        </p:nvSpPr>
        <p:spPr>
          <a:xfrm>
            <a:off x="11567585" y="6378763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>
                <a:solidFill>
                  <a:schemeClr val="accent1"/>
                </a:solidFill>
              </a:rPr>
              <a:t>8</a:t>
            </a:r>
            <a:endParaRPr lang="ru-RU" sz="2000" b="1" dirty="0">
              <a:solidFill>
                <a:schemeClr val="accent1"/>
              </a:solidFill>
            </a:endParaRP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6F3AF087-7F16-4D4B-BE0E-647816F638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269769"/>
              </p:ext>
            </p:extLst>
          </p:nvPr>
        </p:nvGraphicFramePr>
        <p:xfrm>
          <a:off x="351692" y="1005840"/>
          <a:ext cx="11215893" cy="432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74373">
                  <a:extLst>
                    <a:ext uri="{9D8B030D-6E8A-4147-A177-3AD203B41FA5}">
                      <a16:colId xmlns:a16="http://schemas.microsoft.com/office/drawing/2014/main" val="768004564"/>
                    </a:ext>
                  </a:extLst>
                </a:gridCol>
                <a:gridCol w="6041520">
                  <a:extLst>
                    <a:ext uri="{9D8B030D-6E8A-4147-A177-3AD203B41FA5}">
                      <a16:colId xmlns:a16="http://schemas.microsoft.com/office/drawing/2014/main" val="24764890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Виды деятельности: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Функциональные задачи программного продукта:</a:t>
                      </a:r>
                      <a:endParaRPr lang="ru-RU" sz="1400" b="1" dirty="0">
                        <a:solidFill>
                          <a:schemeClr val="bg1"/>
                        </a:solidFill>
                        <a:effectLst/>
                        <a:highlight>
                          <a:srgbClr val="FFFF00"/>
                        </a:highlight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algn="ctr"/>
                      <a:endParaRPr lang="ru-RU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6198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Осуществление интеграции программных модулей.</a:t>
                      </a:r>
                      <a:endParaRPr lang="ru-RU" sz="1400" dirty="0">
                        <a:effectLst/>
                      </a:endParaRPr>
                    </a:p>
                    <a:p>
                      <a:pPr marL="0" algn="l" defTabSz="914400" rtl="0" eaLnBrk="1" latinLnBrk="0" hangingPunct="1"/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165100" lvl="0" indent="0" algn="just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ru-RU" sz="14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Интеграция с сервисом </a:t>
                      </a:r>
                      <a:r>
                        <a:rPr lang="ru-RU" sz="1400" dirty="0" err="1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DaData</a:t>
                      </a:r>
                      <a:r>
                        <a:rPr lang="ru-RU" sz="14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 для подсказки и нормализации адресов подразделений; связка модулей заявок, склада, подразделений и отчётов по макетам в единой ИС.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48085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1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Ревьюирование</a:t>
                      </a:r>
                      <a:r>
                        <a:rPr lang="ru-RU" sz="1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программных продуктов.</a:t>
                      </a:r>
                      <a:endParaRPr lang="ru-RU" sz="1400" dirty="0">
                        <a:effectLst/>
                      </a:endParaRPr>
                    </a:p>
                    <a:p>
                      <a:pPr marL="0" algn="l" defTabSz="914400" rtl="0" eaLnBrk="1" latinLnBrk="0" hangingPunct="1"/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165100" lvl="0" indent="0" algn="just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ru-RU" sz="14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Проверка соответствия реализованных функций требованиям жизненный цикл заявок, разграничение прав по ролям, валидация данных, обработка ошибок; функциональное и нагрузочное тестирование.</a:t>
                      </a:r>
                      <a:endParaRPr lang="ru-RU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032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Проектирование и разработка информационных систем.</a:t>
                      </a:r>
                      <a:endParaRPr lang="ru-RU" sz="1400" dirty="0">
                        <a:effectLst/>
                      </a:endParaRPr>
                    </a:p>
                    <a:p>
                      <a:pPr marL="0" algn="l" defTabSz="914400" rtl="0" eaLnBrk="1" latinLnBrk="0" hangingPunct="1"/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165100" lvl="0" indent="0" algn="just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ru-RU" sz="14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Создание и согласование заявок, учёт остатков на складах, акты установки, отчёты по макетам, администрирование пользователей.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52318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Сопровождение информационных систем.</a:t>
                      </a:r>
                      <a:endParaRPr lang="ru-RU" sz="1400" dirty="0">
                        <a:effectLst/>
                      </a:endParaRPr>
                    </a:p>
                    <a:p>
                      <a:pPr marL="0" algn="l" defTabSz="914400" rtl="0" eaLnBrk="1" latinLnBrk="0" hangingPunct="1"/>
                      <a:endParaRPr lang="ru-RU" sz="1400" b="1" kern="120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165100" lvl="0" indent="0" algn="just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ru-RU" sz="14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Разработка структуры сопровождения информационной системы; выявление и исправление ошибок в коде.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6676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1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Соадминистрирование</a:t>
                      </a:r>
                      <a:r>
                        <a:rPr lang="ru-RU" sz="1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баз данных и серверов.</a:t>
                      </a:r>
                      <a:endParaRPr lang="ru-RU" sz="1400" dirty="0">
                        <a:effectLst/>
                      </a:endParaRPr>
                    </a:p>
                    <a:p>
                      <a:pPr marL="0" algn="l" defTabSz="914400" rtl="0" eaLnBrk="1" latinLnBrk="0" hangingPunct="1"/>
                      <a:endParaRPr lang="ru-RU" sz="1400" b="1" kern="120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165100" lvl="0" indent="0" algn="just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ru-RU" sz="14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Администрирование </a:t>
                      </a:r>
                      <a:r>
                        <a:rPr lang="ru-RU" sz="1400" kern="120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базы данных 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MySQL.</a:t>
                      </a:r>
                      <a:endParaRPr lang="ru-RU" sz="14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48159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6479582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745</TotalTime>
  <Words>764</Words>
  <Application>Microsoft Office PowerPoint</Application>
  <PresentationFormat>Широкоэкранный</PresentationFormat>
  <Paragraphs>142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Symbol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Проектирование программного продукта</vt:lpstr>
      <vt:lpstr>Проектирование программного продукта</vt:lpstr>
      <vt:lpstr>Проектирование базы данных</vt:lpstr>
      <vt:lpstr>Тестирование программного продукта</vt:lpstr>
      <vt:lpstr>Демонстрация программного продукта</vt:lpstr>
      <vt:lpstr>Вывод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_Moore.Skrim_</dc:creator>
  <cp:lastModifiedBy>Adminium</cp:lastModifiedBy>
  <cp:revision>51</cp:revision>
  <dcterms:created xsi:type="dcterms:W3CDTF">2023-05-28T07:05:17Z</dcterms:created>
  <dcterms:modified xsi:type="dcterms:W3CDTF">2026-05-24T12:43:15Z</dcterms:modified>
</cp:coreProperties>
</file>