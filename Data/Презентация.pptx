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99" r:id="rId3"/>
    <p:sldId id="295" r:id="rId4"/>
    <p:sldId id="300" r:id="rId5"/>
    <p:sldId id="288" r:id="rId6"/>
    <p:sldId id="293" r:id="rId7"/>
    <p:sldId id="294" r:id="rId8"/>
    <p:sldId id="290" r:id="rId9"/>
    <p:sldId id="298" r:id="rId10"/>
    <p:sldId id="296" r:id="rId11"/>
    <p:sldId id="297" r:id="rId1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048" autoAdjust="0"/>
    <p:restoredTop sz="82440" autoAdjust="0"/>
  </p:normalViewPr>
  <p:slideViewPr>
    <p:cSldViewPr snapToGrid="0">
      <p:cViewPr varScale="1">
        <p:scale>
          <a:sx n="134" d="100"/>
          <a:sy n="134" d="100"/>
        </p:scale>
        <p:origin x="834" y="15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389266-1B27-4525-B165-AD1A73342BE1}" type="datetimeFigureOut">
              <a:rPr lang="en-US" smtClean="0"/>
              <a:t>5/31/2026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AF4460-6503-445B-8A56-0254AB65E7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2505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Здравствуйте, уважаемая комиссия! Тема дипломного проекта ……</a:t>
            </a:r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0595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Целью дипломного проектирования является создание 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Задачи </a:t>
            </a:r>
            <a:r>
              <a:rPr lang="ru-RU" sz="1200" b="0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дипломного проектирования </a:t>
            </a:r>
            <a:r>
              <a:rPr lang="ru-RU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представлены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…….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dirty="0">
                <a:solidFill>
                  <a:schemeClr val="accent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Функциональные задачи программного продукта: …….</a:t>
            </a:r>
            <a:endParaRPr lang="ru-RU" sz="1200" b="0" dirty="0">
              <a:solidFill>
                <a:schemeClr val="accent1"/>
              </a:solidFill>
              <a:effectLst/>
              <a:highlight>
                <a:srgbClr val="FFFF00"/>
              </a:highlight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highlight>
                <a:srgbClr val="FFFF00"/>
              </a:highlight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highlight>
                  <a:srgbClr val="FFFF00"/>
                </a:highlight>
                <a:latin typeface="+mn-lt"/>
                <a:ea typeface="+mn-ea"/>
                <a:cs typeface="+mn-cs"/>
              </a:rPr>
              <a:t>Данная тема актуальна на сегодняшний момент времени, так как …… (если есть)</a:t>
            </a:r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1502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Предметной областью   веб-приложения является….  (если есть)</a:t>
            </a:r>
          </a:p>
          <a:p>
            <a:r>
              <a:rPr lang="ru-RU" dirty="0"/>
              <a:t>Это….. </a:t>
            </a:r>
            <a:endParaRPr lang="en-US" dirty="0"/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8730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30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представлены инструментальные средства для разработки программного продукта, </a:t>
            </a:r>
          </a:p>
          <a:p>
            <a:pPr lvl="0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архитектура ...... (клиент-серверная; )</a:t>
            </a:r>
          </a:p>
          <a:p>
            <a:pPr lvl="0"/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стороне клиента использовалось веб инструменты: 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стороне сервера использовалось: …… 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проектирования….. Использовались …. Для……..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ИЛИ ПРОСТО ПЕРЕЧИСЛИТЬ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098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dirty="0"/>
              <a:t>На этапе функционального проектирования программного продукта построены диаграммы </a:t>
            </a:r>
          </a:p>
          <a:p>
            <a:pPr algn="l"/>
            <a:r>
              <a:rPr lang="ru-RU" dirty="0"/>
              <a:t>вариантов использования (</a:t>
            </a:r>
            <a:r>
              <a:rPr lang="en-US" dirty="0"/>
              <a:t>USES CASE)</a:t>
            </a:r>
            <a:r>
              <a:rPr lang="ru-RU" dirty="0"/>
              <a:t> на которой вделано … (вставить) … ролей .</a:t>
            </a:r>
          </a:p>
          <a:p>
            <a:pPr algn="l"/>
            <a:endParaRPr lang="ru-RU" dirty="0"/>
          </a:p>
          <a:p>
            <a:pPr algn="l"/>
            <a:r>
              <a:rPr lang="ru-RU" dirty="0"/>
              <a:t>Диаграмма деятельности  -для  моделировании бизнес-процессов, технологических процессов, и демонстрации последовательных действий.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107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Кром того, были построены в стандарте </a:t>
            </a:r>
            <a:r>
              <a:rPr lang="en-US" dirty="0"/>
              <a:t>IDEF0 </a:t>
            </a:r>
            <a:r>
              <a:rPr lang="ru-RU" dirty="0"/>
              <a:t>контекстная диаграмма для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представления общего описания системы</a:t>
            </a: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ru-RU" dirty="0"/>
              <a:t>и диаграмма декомпозиции показывающие детализацию процесса……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207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этапе проектирования базы данных, была построена ER-модель базы данных ……., которая содержит 23  таблиц….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4383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разработки было проведено тестирование. Выбрано вид тестирования….. Это …..</a:t>
            </a:r>
          </a:p>
          <a:p>
            <a:endParaRPr lang="ru-RU" dirty="0"/>
          </a:p>
          <a:p>
            <a:r>
              <a:rPr lang="ru-RU" dirty="0"/>
              <a:t>Результат тестирования…..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98745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Демонстрация программного продукта</a:t>
            </a:r>
          </a:p>
          <a:p>
            <a:endParaRPr lang="ru-RU" dirty="0"/>
          </a:p>
          <a:p>
            <a:endParaRPr lang="ru-RU" dirty="0"/>
          </a:p>
          <a:p>
            <a:r>
              <a:rPr lang="ru-RU" dirty="0"/>
              <a:t>При работе выделены … (количество)  ролей, (назвать кто ) ….</a:t>
            </a:r>
          </a:p>
          <a:p>
            <a:r>
              <a:rPr lang="ru-RU" dirty="0"/>
              <a:t> </a:t>
            </a:r>
          </a:p>
          <a:p>
            <a:endParaRPr lang="ru-RU" dirty="0"/>
          </a:p>
          <a:p>
            <a:r>
              <a:rPr lang="ru-RU" dirty="0"/>
              <a:t>демонстрируем под заявленный функционал каждой роли (открыть в разных браузерах заранее)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70499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Таким образом в процессе дипломного проектирования продемонстрирован …..(вставить вид деятельности) в части реализации функционала …..(вставить) , </a:t>
            </a:r>
          </a:p>
          <a:p>
            <a:r>
              <a:rPr lang="ru-RU" dirty="0"/>
              <a:t>также было выполнено …… (вставить вид деятельности) через (…..вставить) , </a:t>
            </a:r>
          </a:p>
          <a:p>
            <a:endParaRPr lang="ru-RU" dirty="0"/>
          </a:p>
          <a:p>
            <a:r>
              <a:rPr lang="ru-RU" dirty="0"/>
              <a:t>В результате все цели (функциональные задачи) достигнуты (выполнены). </a:t>
            </a:r>
          </a:p>
          <a:p>
            <a:endParaRPr lang="ru-RU" dirty="0"/>
          </a:p>
          <a:p>
            <a:r>
              <a:rPr lang="ru-RU" dirty="0"/>
              <a:t>Спасибо.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F4460-6503-445B-8A56-0254AB65E7A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7542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31B4493-E3C8-4013-ABF2-C703136AD4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63EEDF8-475E-477C-A987-9B23A98036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9BE86E1-9F5F-4CEA-9D81-1F2C8E07B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ABC3810-D6CA-4B12-8AA5-7DF5CF3DD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09063BE-EA16-48A3-8992-B29920A9F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9572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E051D6-DACB-4E1D-B3E0-21F301A0D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931C8D4-6D3B-47D5-8ECA-4F425CA30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D3EBD8D-49BF-4A85-BA57-68ACD048A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418BAA-0EBC-4340-9638-224B4EABD0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AA35976-5D74-40E0-B296-CE85083F7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6504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8989C5-6A8D-4F34-9C66-848ABDAD96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0322CCB1-09A5-4E67-BCED-44887574F3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C591265-AA85-4038-980E-0E4D6AC21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659D130-0296-4360-ADC0-0EEDB20F41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FF94C0C-4CED-4A84-A745-4ED26194C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5505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7F1C38-6D54-43A4-9A28-970F3680F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AD84946-3751-48EB-9B3F-73DBB7897C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F62CF63-5B79-45B2-B784-CE7648A1BD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1C32103-57A4-490F-A727-8370FC704D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94ACB28-912D-46D0-9020-F3461B91BF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86EDB07B-116C-495A-A810-C2CA4898F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30757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043607E-AEE7-45E8-973F-C6A0F44E6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38246A5-1EA2-4060-88B9-AEEF4D4BA2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8B82C7B-9FB3-42C3-B7F9-D830064995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1F208E3-7A6B-44D3-AAE0-436FC7D3DA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5BEA751-75E2-4770-AC4C-ABDE479A72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C2F5611-7733-484E-B406-9B1D29C93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F4E223BB-96A8-4AA5-BDC6-57A8ECBA9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A096D070-498B-4DC0-BD7D-0D38BAB0C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17245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C8CAC72-5242-47A2-8742-679E932105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21C6E1FF-3A97-4325-8E27-8C31D4BC6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3E619FB1-8673-4A00-BB46-FEE2384C24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D0E1D98-B347-40A5-A48A-99A25F2B7E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651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D3D4373-5614-495A-A779-7A5B480A21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ED325AA6-96C1-4630-B4DE-BC098226B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3F2DB7E-3440-41AF-915A-C05E90C72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58980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CD6E2C-BCA5-41E4-892B-2B8A35CDE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38BABE5-695C-4FC0-8127-36E6EF69E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9FCF46C-D2D9-45FE-B285-2BEFDBA837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0008DD-915F-4D6B-9B4C-5ADD4E2C2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C579F4DB-73B0-4276-897E-D7ABFC42E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C1385446-C9EA-40EB-ACC5-3DE527918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7668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20478C-6799-43DC-97FA-9113AFCBB8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A1EFE25A-252C-487C-AD6C-CE86A769DAD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31453A1-AD3C-47A3-9BB6-8A50661121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A20D80D-D7EB-4833-8538-CC4E43070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56705F5C-D657-4864-A677-2C6394448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2B13AE1-764F-405F-BD36-3EEF63317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378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067077-9B49-47B9-A5FE-80CD7FA38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863BF900-CE03-4A93-8FF9-2AA3ADEC76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0AA9DC2-1C89-4838-9CDF-84897948C1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FEB5615-1957-41FA-A180-3CC494ED1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4583B74-F5C4-4A0F-9A7B-44261E1E0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51688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981D8D13-5A14-4577-BF7A-F20310C58B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862C0B2-95FF-43B8-AC2D-08DD1E50D1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FB28C0F-C092-4F04-9B00-B43B2B151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76DA3-B598-4B8A-8255-3391DDF783A7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8494C4DC-42C2-4D75-BE1B-ED3AAB95E7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B95503A-4B2D-49DD-9141-91EF78BF4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56364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A723B-5719-4EEA-B777-EAF3DA7FDF21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04A5C1-EBA6-4D9B-83CC-431CB510693B}" type="slidenum">
              <a:rPr lang="ru-RU" smtClean="0"/>
              <a:t>‹#›</a:t>
            </a:fld>
            <a:endParaRPr lang="ru-RU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10" name="Content Placeholder 9"/>
          <p:cNvSpPr>
            <a:spLocks noGrp="1"/>
          </p:cNvSpPr>
          <p:nvPr>
            <p:ph sz="quarter" idx="13"/>
          </p:nvPr>
        </p:nvSpPr>
        <p:spPr>
          <a:xfrm>
            <a:off x="1524000" y="731520"/>
            <a:ext cx="8534400" cy="347472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78833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B2CF29-2723-4C42-8522-1A6544C4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3B6F97B-9842-48C5-BF92-7072EB4B48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7BD38571-CFC5-4622-B376-FD998376A1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A76DA3-B598-4B8A-8255-3391DDF783A7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8B80B3E-3EC7-431D-B69D-1ABB7A9AD6F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BC3BBBD-9C88-4C2B-BC40-290AFD4778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6F580B-7502-4723-A328-990B3117F3B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321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jpeg"/><Relationship Id="rId4" Type="http://schemas.openxmlformats.org/officeDocument/2006/relationships/image" Target="../media/image4.png"/><Relationship Id="rId9" Type="http://schemas.openxmlformats.org/officeDocument/2006/relationships/image" Target="../media/image9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microsoft.com/office/2007/relationships/hdphoto" Target="../media/hdphoto2.wdp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37F0CE69-87EB-4A20-A6B5-BB5F26E30EFE}"/>
              </a:ext>
            </a:extLst>
          </p:cNvPr>
          <p:cNvSpPr txBox="1">
            <a:spLocks/>
          </p:cNvSpPr>
          <p:nvPr/>
        </p:nvSpPr>
        <p:spPr>
          <a:xfrm>
            <a:off x="270456" y="2166319"/>
            <a:ext cx="11281893" cy="2233154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82880"/>
            <a:r>
              <a:rPr lang="ru-RU" sz="52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Дипломный проект </a:t>
            </a:r>
          </a:p>
          <a:p>
            <a:pPr marL="182880"/>
            <a:endParaRPr lang="ru-RU" sz="4400" dirty="0">
              <a:solidFill>
                <a:schemeClr val="accent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2880"/>
            <a:r>
              <a:rPr lang="ru-RU" sz="4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Информационная система учета материалов для теплоснабжающей организации</a:t>
            </a:r>
            <a:endParaRPr lang="ru-RU" sz="4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5634B-476B-4A2F-BF93-37FB94D1551F}"/>
              </a:ext>
            </a:extLst>
          </p:cNvPr>
          <p:cNvSpPr txBox="1"/>
          <p:nvPr/>
        </p:nvSpPr>
        <p:spPr>
          <a:xfrm>
            <a:off x="3273112" y="328071"/>
            <a:ext cx="5645776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Министерство образования Иркутской области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Государственное бюджетное профессиональное 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образовательное учреждение Иркутской области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«Иркутский авиационный техникум»</a:t>
            </a:r>
          </a:p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(ГБПОУИО «ИАТ»)</a:t>
            </a:r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D5ABF-E9F4-4772-9280-5F7BA2804737}"/>
              </a:ext>
            </a:extLst>
          </p:cNvPr>
          <p:cNvSpPr txBox="1"/>
          <p:nvPr/>
        </p:nvSpPr>
        <p:spPr>
          <a:xfrm>
            <a:off x="6297769" y="4910703"/>
            <a:ext cx="604086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Выполнил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Кривогорницына Елизавета Михайловна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Группа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ИС-22-2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Михайлов С.А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D01F7D-6C97-4306-9332-2700335BDBB5}"/>
              </a:ext>
            </a:extLst>
          </p:cNvPr>
          <p:cNvSpPr txBox="1"/>
          <p:nvPr/>
        </p:nvSpPr>
        <p:spPr>
          <a:xfrm>
            <a:off x="5356310" y="6345263"/>
            <a:ext cx="15953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Иркутск 2026</a:t>
            </a:r>
          </a:p>
        </p:txBody>
      </p:sp>
    </p:spTree>
    <p:extLst>
      <p:ext uri="{BB962C8B-B14F-4D97-AF65-F5344CB8AC3E}">
        <p14:creationId xmlns:p14="http://schemas.microsoft.com/office/powerpoint/2010/main" val="27614804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5F768B2-AD3E-48D3-8D9E-B85855A1D699}"/>
              </a:ext>
            </a:extLst>
          </p:cNvPr>
          <p:cNvSpPr txBox="1">
            <a:spLocks/>
          </p:cNvSpPr>
          <p:nvPr/>
        </p:nvSpPr>
        <p:spPr>
          <a:xfrm>
            <a:off x="1778575" y="0"/>
            <a:ext cx="8634849" cy="59411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sz="3600" b="1" dirty="0">
                <a:solidFill>
                  <a:srgbClr val="C00000"/>
                </a:solidFill>
              </a:rPr>
              <a:t>Цель</a:t>
            </a:r>
            <a:r>
              <a:rPr lang="en-US" sz="3600" b="1" dirty="0">
                <a:solidFill>
                  <a:srgbClr val="C00000"/>
                </a:solidFill>
              </a:rPr>
              <a:t>, </a:t>
            </a:r>
            <a:r>
              <a:rPr lang="ru-RU" sz="3600" b="1" dirty="0">
                <a:solidFill>
                  <a:srgbClr val="C00000"/>
                </a:solidFill>
              </a:rPr>
              <a:t>задачи дипломного проектирования 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75B4357-85C4-48BF-8D26-ED26BD6CFFAD}"/>
              </a:ext>
            </a:extLst>
          </p:cNvPr>
          <p:cNvSpPr txBox="1">
            <a:spLocks/>
          </p:cNvSpPr>
          <p:nvPr/>
        </p:nvSpPr>
        <p:spPr>
          <a:xfrm>
            <a:off x="455125" y="675752"/>
            <a:ext cx="11478650" cy="5067824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Цель дипломного проектирования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3200" dirty="0"/>
              <a:t>разработка информационной системы учета материалов для теплоснабжающей организации, обеспечивающей учет</a:t>
            </a:r>
            <a:r>
              <a:rPr lang="en-US" sz="3200" dirty="0"/>
              <a:t> </a:t>
            </a:r>
            <a:r>
              <a:rPr lang="ru-RU" sz="3200" dirty="0"/>
              <a:t>материальных ресурсов по подразделениям в течение всего цикла к подготовке к отопительному сезону.</a:t>
            </a:r>
            <a:endParaRPr lang="ru-RU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just">
              <a:lnSpc>
                <a:spcPct val="120000"/>
              </a:lnSpc>
              <a:buFont typeface="Arial" panose="020B0604020202020204" pitchFamily="34" charset="0"/>
              <a:buNone/>
            </a:pPr>
            <a:r>
              <a:rPr lang="ru-RU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Задачи дипломного проектирования</a:t>
            </a:r>
            <a:r>
              <a:rPr lang="en-US" sz="24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Анализ предметной области.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Проектирование программного продукта.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Разработка клиентской части продукта.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Разработка базы данных.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Разработка серверной части продукта.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Разработка технического задания.</a:t>
            </a:r>
            <a:endParaRPr lang="ru-RU" sz="1800" dirty="0">
              <a:solidFill>
                <a:srgbClr val="000000"/>
              </a:solidFill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Тестирование информационной системы.</a:t>
            </a:r>
          </a:p>
          <a:p>
            <a:pPr marL="342900" lvl="0" indent="-342900" algn="just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tabLst>
                <a:tab pos="810260" algn="l"/>
              </a:tabLst>
            </a:pPr>
            <a:r>
              <a:rPr lang="ru-RU" sz="18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Разработка руководства пользователя.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DA046-37F4-4DE3-B662-ED8DB0206F28}"/>
              </a:ext>
            </a:extLst>
          </p:cNvPr>
          <p:cNvSpPr txBox="1"/>
          <p:nvPr/>
        </p:nvSpPr>
        <p:spPr>
          <a:xfrm>
            <a:off x="11452785" y="6270149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rgbClr val="C00000"/>
                </a:solidFill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922068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E5F768B2-AD3E-48D3-8D9E-B85855A1D699}"/>
              </a:ext>
            </a:extLst>
          </p:cNvPr>
          <p:cNvSpPr txBox="1">
            <a:spLocks/>
          </p:cNvSpPr>
          <p:nvPr/>
        </p:nvSpPr>
        <p:spPr>
          <a:xfrm>
            <a:off x="1644867" y="271205"/>
            <a:ext cx="9919238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b="1" dirty="0">
                <a:solidFill>
                  <a:srgbClr val="C00000"/>
                </a:solidFill>
              </a:rPr>
              <a:t>Предметная область дипломного проекта </a:t>
            </a:r>
          </a:p>
        </p:txBody>
      </p:sp>
      <p:sp>
        <p:nvSpPr>
          <p:cNvPr id="5" name="Объект 2">
            <a:extLst>
              <a:ext uri="{FF2B5EF4-FFF2-40B4-BE49-F238E27FC236}">
                <a16:creationId xmlns:a16="http://schemas.microsoft.com/office/drawing/2014/main" id="{975B4357-85C4-48BF-8D26-ED26BD6CFFAD}"/>
              </a:ext>
            </a:extLst>
          </p:cNvPr>
          <p:cNvSpPr txBox="1">
            <a:spLocks/>
          </p:cNvSpPr>
          <p:nvPr/>
        </p:nvSpPr>
        <p:spPr>
          <a:xfrm>
            <a:off x="337018" y="1944812"/>
            <a:ext cx="6089756" cy="5763296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dirty="0"/>
              <a:t>Предметной областью дипломного проекта является автоматизация процесса учета материалов по подразделениям в теплоснабжающей организации, посредством отслеживания заявок.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DA046-37F4-4DE3-B662-ED8DB0206F28}"/>
              </a:ext>
            </a:extLst>
          </p:cNvPr>
          <p:cNvSpPr txBox="1"/>
          <p:nvPr/>
        </p:nvSpPr>
        <p:spPr>
          <a:xfrm>
            <a:off x="11388491" y="627729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rgbClr val="C00000"/>
                </a:solidFill>
              </a:rPr>
              <a:t>3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ED6FD72F-91C7-4F3D-B4FA-3362BA398D1C}"/>
              </a:ext>
            </a:extLst>
          </p:cNvPr>
          <p:cNvSpPr txBox="1">
            <a:spLocks/>
          </p:cNvSpPr>
          <p:nvPr/>
        </p:nvSpPr>
        <p:spPr>
          <a:xfrm>
            <a:off x="6604486" y="1462655"/>
            <a:ext cx="5507001" cy="5244355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165100" lvl="0" indent="0" algn="just">
              <a:spcAft>
                <a:spcPts val="0"/>
              </a:spcAft>
              <a:buNone/>
            </a:pPr>
            <a:endParaRPr lang="ru-RU" sz="1800" dirty="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774" y="1847911"/>
            <a:ext cx="5474090" cy="297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10645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BE200B-7FD6-F90B-4942-9E981FC252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2231"/>
            <a:ext cx="9144000" cy="770731"/>
          </a:xfrm>
        </p:spPr>
        <p:txBody>
          <a:bodyPr>
            <a:noAutofit/>
          </a:bodyPr>
          <a:lstStyle/>
          <a:p>
            <a:r>
              <a:rPr lang="ru-RU" sz="4000" b="1" dirty="0">
                <a:solidFill>
                  <a:srgbClr val="C00000"/>
                </a:solidFill>
              </a:rPr>
              <a:t>Организационная структура предприятия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05E60F9-3FE8-13CD-5593-9C26E5316D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2357" y="938211"/>
            <a:ext cx="9092781" cy="549116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E47420E-F3F9-7E20-23DB-E6F273A86022}"/>
              </a:ext>
            </a:extLst>
          </p:cNvPr>
          <p:cNvSpPr txBox="1"/>
          <p:nvPr/>
        </p:nvSpPr>
        <p:spPr>
          <a:xfrm>
            <a:off x="11475266" y="6264392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rgbClr val="C00000"/>
                </a:solidFill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5543415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9CFF2710-5C29-443A-A696-F9786282AB5C}"/>
              </a:ext>
            </a:extLst>
          </p:cNvPr>
          <p:cNvSpPr txBox="1">
            <a:spLocks/>
          </p:cNvSpPr>
          <p:nvPr/>
        </p:nvSpPr>
        <p:spPr>
          <a:xfrm>
            <a:off x="1699403" y="-100195"/>
            <a:ext cx="965201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36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Инструментальные средства разработки</a:t>
            </a:r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B48BD70D-31AF-4588-958D-B470BEDBD8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436787"/>
              </p:ext>
            </p:extLst>
          </p:nvPr>
        </p:nvGraphicFramePr>
        <p:xfrm>
          <a:off x="510028" y="988185"/>
          <a:ext cx="11171940" cy="5633424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723980">
                  <a:extLst>
                    <a:ext uri="{9D8B030D-6E8A-4147-A177-3AD203B41FA5}">
                      <a16:colId xmlns:a16="http://schemas.microsoft.com/office/drawing/2014/main" val="489332136"/>
                    </a:ext>
                  </a:extLst>
                </a:gridCol>
                <a:gridCol w="3723980">
                  <a:extLst>
                    <a:ext uri="{9D8B030D-6E8A-4147-A177-3AD203B41FA5}">
                      <a16:colId xmlns:a16="http://schemas.microsoft.com/office/drawing/2014/main" val="699667990"/>
                    </a:ext>
                  </a:extLst>
                </a:gridCol>
                <a:gridCol w="3723980">
                  <a:extLst>
                    <a:ext uri="{9D8B030D-6E8A-4147-A177-3AD203B41FA5}">
                      <a16:colId xmlns:a16="http://schemas.microsoft.com/office/drawing/2014/main" val="3597329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Этап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Изображение (логотип)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Название инструмента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5068126"/>
                  </a:ext>
                </a:extLst>
              </a:tr>
              <a:tr h="712120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программного продукта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Draw.io, Visio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419065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базы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MySQL Workbench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5179013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Реализация базы данных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MySQL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248937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Проектирование интерфейса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Draw.io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06054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 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(</a:t>
                      </a:r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среда разработки)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Visual Studio Code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8600580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PHP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050000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Разработка(фреймворки)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Laravel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350619"/>
                  </a:ext>
                </a:extLst>
              </a:tr>
              <a:tr h="650792">
                <a:tc>
                  <a:txBody>
                    <a:bodyPr/>
                    <a:lstStyle/>
                    <a:p>
                      <a:pPr algn="ctr"/>
                      <a:r>
                        <a:rPr lang="ru-RU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Тестирование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PHPUnit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, </a:t>
                      </a:r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Grafa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K6</a:t>
                      </a:r>
                      <a:endParaRPr lang="ru-RU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0927718"/>
                  </a:ext>
                </a:extLst>
              </a:tr>
            </a:tbl>
          </a:graphicData>
        </a:graphic>
      </p:graphicFrame>
      <p:sp>
        <p:nvSpPr>
          <p:cNvPr id="6" name="AutoShape 4" descr="Visual Studio Code Logo Vector SVG Icon - SVG Repo">
            <a:extLst>
              <a:ext uri="{FF2B5EF4-FFF2-40B4-BE49-F238E27FC236}">
                <a16:creationId xmlns:a16="http://schemas.microsoft.com/office/drawing/2014/main" id="{FD79F5A1-B225-4765-B243-43A7D0327C0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CF444B-5BC2-419D-85AC-7F8C28A447C8}"/>
              </a:ext>
            </a:extLst>
          </p:cNvPr>
          <p:cNvSpPr txBox="1"/>
          <p:nvPr/>
        </p:nvSpPr>
        <p:spPr>
          <a:xfrm>
            <a:off x="11646716" y="6421554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rgbClr val="C00000"/>
                </a:solidFill>
              </a:rPr>
              <a:t>5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013020D-D3EE-E3AF-5304-F2DC65530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3397" y="1435784"/>
            <a:ext cx="542925" cy="54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>
            <a:extLst>
              <a:ext uri="{FF2B5EF4-FFF2-40B4-BE49-F238E27FC236}">
                <a16:creationId xmlns:a16="http://schemas.microsoft.com/office/drawing/2014/main" id="{F031036D-7889-DAC2-BAF1-BB1DEC83E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3202" y="2063171"/>
            <a:ext cx="647700" cy="64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C01D0C7D-03D8-3032-A891-EF94266732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2148" y="2734097"/>
            <a:ext cx="647700" cy="647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9" name="Picture 5">
            <a:extLst>
              <a:ext uri="{FF2B5EF4-FFF2-40B4-BE49-F238E27FC236}">
                <a16:creationId xmlns:a16="http://schemas.microsoft.com/office/drawing/2014/main" id="{2EF76EF1-C98B-0EB6-BE37-07711C1811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8191" y="3451236"/>
            <a:ext cx="542925" cy="54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52384AA3-25BA-7B7A-97EF-EC3677573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7490" y="4103680"/>
            <a:ext cx="514350" cy="50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60619199-5B29-BA9B-215D-1079D4AF20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3190" y="4824545"/>
            <a:ext cx="742950" cy="400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>
            <a:extLst>
              <a:ext uri="{FF2B5EF4-FFF2-40B4-BE49-F238E27FC236}">
                <a16:creationId xmlns:a16="http://schemas.microsoft.com/office/drawing/2014/main" id="{7EA1ECC6-AD87-19C8-D775-58D574D69C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423" y="5422552"/>
            <a:ext cx="485775" cy="485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884001E5-1906-8977-C1A7-1ACD45A5BF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8621" y="5954839"/>
            <a:ext cx="752475" cy="62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14" descr="https://avatars.mds.yandex.net/i?id=33b8656b808466624590987098f31cfedb1a006d-10929043-images-thumbs&amp;n=13">
            <a:extLst>
              <a:ext uri="{FF2B5EF4-FFF2-40B4-BE49-F238E27FC236}">
                <a16:creationId xmlns:a16="http://schemas.microsoft.com/office/drawing/2014/main" id="{360FBC0D-07AB-2F09-5E10-5AA2BB7CD9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2" t="14808" r="53333" b="13817"/>
          <a:stretch/>
        </p:blipFill>
        <p:spPr bwMode="auto">
          <a:xfrm>
            <a:off x="6419848" y="1428135"/>
            <a:ext cx="542926" cy="550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Picture background">
            <a:extLst>
              <a:ext uri="{FF2B5EF4-FFF2-40B4-BE49-F238E27FC236}">
                <a16:creationId xmlns:a16="http://schemas.microsoft.com/office/drawing/2014/main" id="{7B51F8E5-A11E-9E8F-5E5A-3BEBF48F9E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1311" y="6016751"/>
            <a:ext cx="520602" cy="5048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18121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51675" y="35179"/>
            <a:ext cx="8928586" cy="426550"/>
          </a:xfrm>
        </p:spPr>
        <p:txBody>
          <a:bodyPr>
            <a:normAutofit fontScale="90000"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программного продукта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590788" y="383971"/>
            <a:ext cx="466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вариантов использования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rgbClr val="C00000"/>
                </a:solidFill>
              </a:rPr>
              <a:t>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91C682-6ABD-4DA4-A18A-A4A9DD4F28D1}"/>
              </a:ext>
            </a:extLst>
          </p:cNvPr>
          <p:cNvSpPr txBox="1"/>
          <p:nvPr/>
        </p:nvSpPr>
        <p:spPr>
          <a:xfrm>
            <a:off x="1188873" y="4102412"/>
            <a:ext cx="274421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Картинка диаграммы </a:t>
            </a:r>
          </a:p>
          <a:p>
            <a:pPr algn="ctr"/>
            <a:r>
              <a:rPr lang="ru-RU" dirty="0"/>
              <a:t>вариантов использования</a:t>
            </a:r>
          </a:p>
          <a:p>
            <a:pPr algn="ctr"/>
            <a:r>
              <a:rPr lang="ru-RU" dirty="0"/>
              <a:t> (</a:t>
            </a:r>
            <a:r>
              <a:rPr lang="en-US" dirty="0"/>
              <a:t>USES CASE)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595D4-F499-48D9-89D6-2569A1ADA379}"/>
              </a:ext>
            </a:extLst>
          </p:cNvPr>
          <p:cNvSpPr txBox="1"/>
          <p:nvPr/>
        </p:nvSpPr>
        <p:spPr>
          <a:xfrm>
            <a:off x="6519111" y="383971"/>
            <a:ext cx="466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деятельности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5DB463-03B1-406B-8C90-94477513324D}"/>
              </a:ext>
            </a:extLst>
          </p:cNvPr>
          <p:cNvSpPr txBox="1"/>
          <p:nvPr/>
        </p:nvSpPr>
        <p:spPr>
          <a:xfrm>
            <a:off x="7328210" y="4056692"/>
            <a:ext cx="3674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Картинка диаграммы деятельности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77453B6-FD47-1777-F59A-03089AF98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437" y="781996"/>
            <a:ext cx="5136137" cy="590677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AD3F3EB-29A0-5FFB-757D-7FC73115AC9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479" y="714375"/>
            <a:ext cx="5387411" cy="60507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6467793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24118" y="-192950"/>
            <a:ext cx="8928586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программного продукта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782613" y="628262"/>
            <a:ext cx="466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Контекстная диаграмма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rgbClr val="C00000"/>
                </a:solidFill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91C682-6ABD-4DA4-A18A-A4A9DD4F28D1}"/>
              </a:ext>
            </a:extLst>
          </p:cNvPr>
          <p:cNvSpPr txBox="1"/>
          <p:nvPr/>
        </p:nvSpPr>
        <p:spPr>
          <a:xfrm>
            <a:off x="1797028" y="3964359"/>
            <a:ext cx="263860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dirty="0"/>
              <a:t>Картинка КОНТЕКСТНОЙ </a:t>
            </a:r>
          </a:p>
          <a:p>
            <a:pPr algn="ctr"/>
            <a:r>
              <a:rPr lang="ru-RU" dirty="0"/>
              <a:t>диаграммы </a:t>
            </a:r>
          </a:p>
          <a:p>
            <a:pPr algn="ctr"/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595D4-F499-48D9-89D6-2569A1ADA379}"/>
              </a:ext>
            </a:extLst>
          </p:cNvPr>
          <p:cNvSpPr txBox="1"/>
          <p:nvPr/>
        </p:nvSpPr>
        <p:spPr>
          <a:xfrm>
            <a:off x="6591554" y="628262"/>
            <a:ext cx="466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Диаграмма декомпозиции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5DB463-03B1-406B-8C90-94477513324D}"/>
              </a:ext>
            </a:extLst>
          </p:cNvPr>
          <p:cNvSpPr txBox="1"/>
          <p:nvPr/>
        </p:nvSpPr>
        <p:spPr>
          <a:xfrm>
            <a:off x="7328210" y="4056692"/>
            <a:ext cx="3804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Картинка диаграммы декомпозиции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6170815-CD45-E33D-5E37-D9697F9A0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337" y="1405263"/>
            <a:ext cx="5819762" cy="4124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DFA6425-4985-E7BC-9429-BCF5F61DE3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2093" y="1405263"/>
            <a:ext cx="6053292" cy="4124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9799910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08679" y="0"/>
            <a:ext cx="7189575" cy="595613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Проектирование базы данных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6B9F4FE-3FA8-43BD-A563-A96EBAA4E414}"/>
              </a:ext>
            </a:extLst>
          </p:cNvPr>
          <p:cNvSpPr txBox="1"/>
          <p:nvPr/>
        </p:nvSpPr>
        <p:spPr>
          <a:xfrm>
            <a:off x="5391279" y="595613"/>
            <a:ext cx="24243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ER-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модель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91C682-6ABD-4DA4-A18A-A4A9DD4F28D1}"/>
              </a:ext>
            </a:extLst>
          </p:cNvPr>
          <p:cNvSpPr txBox="1"/>
          <p:nvPr/>
        </p:nvSpPr>
        <p:spPr>
          <a:xfrm>
            <a:off x="4993294" y="3631721"/>
            <a:ext cx="2205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Картинка </a:t>
            </a:r>
            <a:r>
              <a:rPr lang="en-US" dirty="0"/>
              <a:t>ER-</a:t>
            </a:r>
            <a:r>
              <a:rPr lang="ru-RU" dirty="0"/>
              <a:t>модели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4D30562-25D1-55E0-4F6B-3FC979CCC9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4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453" y="595613"/>
            <a:ext cx="10864926" cy="6262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1691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21EA8F00-3DD0-4256-8C2D-D62221C45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84713" y="-276915"/>
            <a:ext cx="8458323" cy="1143000"/>
          </a:xfrm>
        </p:spPr>
        <p:txBody>
          <a:bodyPr>
            <a:normAutofit/>
          </a:bodyPr>
          <a:lstStyle/>
          <a:p>
            <a:pPr marL="0" indent="0" algn="l">
              <a:buNone/>
            </a:pPr>
            <a:r>
              <a:rPr lang="ru-RU" sz="32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Тестирование программного продукта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35AB10-481D-490B-8F68-3E2ED02099F5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F05201C0-CA37-4CB9-9FFC-0B245798AA0A}"/>
              </a:ext>
            </a:extLst>
          </p:cNvPr>
          <p:cNvSpPr txBox="1">
            <a:spLocks/>
          </p:cNvSpPr>
          <p:nvPr/>
        </p:nvSpPr>
        <p:spPr>
          <a:xfrm>
            <a:off x="354287" y="1661828"/>
            <a:ext cx="5595751" cy="4675011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sz="20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Вид тестирования программного продукта:  </a:t>
            </a:r>
            <a:r>
              <a:rPr lang="ru-RU" sz="2000" b="1" dirty="0">
                <a:latin typeface="Arial" panose="020B0604020202020204" pitchFamily="34" charset="0"/>
                <a:cs typeface="Arial" panose="020B0604020202020204" pitchFamily="34" charset="0"/>
              </a:rPr>
              <a:t>модульное и нагрузочное тестирование.</a:t>
            </a:r>
          </a:p>
          <a:p>
            <a:pPr marL="0" indent="0">
              <a:buNone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Метод проверки отдельных модулей информационной системы учёта материалов (контроллеров, сервисов, правил валидации) с помощью тестов 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PHPUnit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 в среде Laravel. Код теста представлен в 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tests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/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FuncPos02LayoutApplicationTest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php</a:t>
            </a:r>
            <a:endParaRPr lang="ru-RU" sz="2000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1D27BA6-0FDA-4B87-EE13-3242AEF5A36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402"/>
          <a:stretch/>
        </p:blipFill>
        <p:spPr bwMode="auto">
          <a:xfrm>
            <a:off x="6904381" y="740691"/>
            <a:ext cx="4830936" cy="2378369"/>
          </a:xfrm>
          <a:prstGeom prst="rect">
            <a:avLst/>
          </a:prstGeom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91ABBEB-5BCC-8590-F299-0481A453A20C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48000"/>
                    </a14:imgEffect>
                  </a14:imgLayer>
                </a14:imgProps>
              </a:ext>
            </a:extLst>
          </a:blip>
          <a:srcRect t="33795" b="6552"/>
          <a:stretch/>
        </p:blipFill>
        <p:spPr bwMode="auto">
          <a:xfrm>
            <a:off x="7586661" y="3260248"/>
            <a:ext cx="3894489" cy="3283426"/>
          </a:xfrm>
          <a:prstGeom prst="rect">
            <a:avLst/>
          </a:prstGeom>
          <a:ln w="9525" cap="flat" cmpd="sng" algn="ctr">
            <a:solidFill>
              <a:sysClr val="windowText" lastClr="000000"/>
            </a:solidFill>
            <a:prstDash val="solid"/>
            <a:round/>
            <a:headEnd type="none" w="med" len="med"/>
            <a:tailEnd type="none" w="med" len="med"/>
          </a:ln>
          <a:effectLst>
            <a:reflection endPos="0" dist="50800" dir="5400000" sy="-100000" algn="bl" rotWithShape="0"/>
          </a:effectLst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5560082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00BC0C-F276-4244-A7CD-BD0F4DCD93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66218"/>
            <a:ext cx="12192000" cy="1325563"/>
          </a:xfrm>
        </p:spPr>
        <p:txBody>
          <a:bodyPr>
            <a:noAutofit/>
          </a:bodyPr>
          <a:lstStyle/>
          <a:p>
            <a:r>
              <a:rPr lang="ru-RU" sz="48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Демонстрация программного продукта</a:t>
            </a:r>
            <a:endParaRPr lang="ru-RU" sz="4800" dirty="0">
              <a:solidFill>
                <a:srgbClr val="C0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BFBD571-39F3-4865-BB27-AA37ACFF1329}"/>
              </a:ext>
            </a:extLst>
          </p:cNvPr>
          <p:cNvSpPr txBox="1"/>
          <p:nvPr/>
        </p:nvSpPr>
        <p:spPr>
          <a:xfrm>
            <a:off x="11541379" y="6288656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rgbClr val="C0000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86539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4">
            <a:extLst>
              <a:ext uri="{FF2B5EF4-FFF2-40B4-BE49-F238E27FC236}">
                <a16:creationId xmlns:a16="http://schemas.microsoft.com/office/drawing/2014/main" id="{03DB970B-9C80-46DC-8E32-7C5FC8006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7808" y="-289933"/>
            <a:ext cx="3643659" cy="114300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3200" b="1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Вывод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2937D-A278-4C52-9A34-EB4FF55CE159}"/>
              </a:ext>
            </a:extLst>
          </p:cNvPr>
          <p:cNvSpPr txBox="1"/>
          <p:nvPr/>
        </p:nvSpPr>
        <p:spPr>
          <a:xfrm>
            <a:off x="11567585" y="6378763"/>
            <a:ext cx="5452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dirty="0">
                <a:solidFill>
                  <a:srgbClr val="C00000"/>
                </a:solidFill>
              </a:rPr>
              <a:t>11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6F3AF087-7F16-4D4B-BE0E-647816F638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9201600"/>
              </p:ext>
            </p:extLst>
          </p:nvPr>
        </p:nvGraphicFramePr>
        <p:xfrm>
          <a:off x="351692" y="1005839"/>
          <a:ext cx="11215893" cy="55588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74373">
                  <a:extLst>
                    <a:ext uri="{9D8B030D-6E8A-4147-A177-3AD203B41FA5}">
                      <a16:colId xmlns:a16="http://schemas.microsoft.com/office/drawing/2014/main" val="768004564"/>
                    </a:ext>
                  </a:extLst>
                </a:gridCol>
                <a:gridCol w="6041520">
                  <a:extLst>
                    <a:ext uri="{9D8B030D-6E8A-4147-A177-3AD203B41FA5}">
                      <a16:colId xmlns:a16="http://schemas.microsoft.com/office/drawing/2014/main" val="2476489099"/>
                    </a:ext>
                  </a:extLst>
                </a:gridCol>
              </a:tblGrid>
              <a:tr h="634757">
                <a:tc>
                  <a:txBody>
                    <a:bodyPr/>
                    <a:lstStyle/>
                    <a:p>
                      <a:pPr algn="ctr"/>
                      <a:r>
                        <a:rPr lang="ru-RU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Виды деятельности: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dirty="0">
                          <a:solidFill>
                            <a:schemeClr val="bg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Функциональные задачи программного продукта:</a:t>
                      </a:r>
                      <a:endParaRPr lang="ru-RU" sz="1400" b="1" dirty="0">
                        <a:solidFill>
                          <a:schemeClr val="bg1"/>
                        </a:solidFill>
                        <a:effectLst/>
                        <a:highlight>
                          <a:srgbClr val="FFFF00"/>
                        </a:highlight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  <a:p>
                      <a:pPr algn="ctr"/>
                      <a:endParaRPr lang="ru-RU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rgbClr val="C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619887"/>
                  </a:ext>
                </a:extLst>
              </a:tr>
              <a:tr h="10454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Осуществление интеграции программных модулей.</a:t>
                      </a:r>
                      <a:endParaRPr lang="ru-RU" sz="1600" dirty="0">
                        <a:effectLst/>
                      </a:endParaRPr>
                    </a:p>
                    <a:p>
                      <a:pPr marL="0" algn="l" defTabSz="914400" rtl="0" eaLnBrk="1" latinLnBrk="0" hangingPunct="1"/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6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Интеграция с сервисом </a:t>
                      </a:r>
                      <a:r>
                        <a:rPr lang="ru-RU" sz="1600" dirty="0" err="1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DaData</a:t>
                      </a:r>
                      <a:r>
                        <a:rPr lang="ru-RU" sz="16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 для подсказки и нормализации адресов подразделений; связка модулей заявок, склада, подразделений и отчётов по макетам в единой ИС.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4808504"/>
                  </a:ext>
                </a:extLst>
              </a:tr>
              <a:tr h="115749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Ревьюирование</a:t>
                      </a:r>
                      <a:r>
                        <a:rPr lang="ru-RU" sz="2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программных продуктов.</a:t>
                      </a:r>
                      <a:endParaRPr lang="ru-RU" sz="1600" dirty="0">
                        <a:effectLst/>
                      </a:endParaRPr>
                    </a:p>
                    <a:p>
                      <a:pPr marL="0" algn="l" defTabSz="914400" rtl="0" eaLnBrk="1" latinLnBrk="0" hangingPunct="1"/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6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Проверка соответствия реализованных функций требованиям жизненный цикл заявок, разграничение прав по ролям, валидация данных, обработка ошибок; функциональное и нагрузочное тестирование.</a:t>
                      </a:r>
                      <a:endParaRPr lang="ru-RU" sz="16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326122"/>
                  </a:ext>
                </a:extLst>
              </a:tr>
              <a:tr h="104548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Проектирование и разработка информационных систем.</a:t>
                      </a:r>
                      <a:endParaRPr lang="ru-RU" sz="1600" dirty="0">
                        <a:effectLst/>
                      </a:endParaRPr>
                    </a:p>
                    <a:p>
                      <a:pPr marL="0" algn="l" defTabSz="914400" rtl="0" eaLnBrk="1" latinLnBrk="0" hangingPunct="1"/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600" dirty="0"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Создание и согласование заявок, учёт остатков на складах, акты установки, отчёты по макетам, администрирование пользователей.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5231817"/>
                  </a:ext>
                </a:extLst>
              </a:tr>
              <a:tr h="7094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Сопровождение информационных систем.</a:t>
                      </a:r>
                      <a:endParaRPr lang="ru-RU" sz="1600" dirty="0">
                        <a:effectLst/>
                      </a:endParaRPr>
                    </a:p>
                    <a:p>
                      <a:pPr marL="0" algn="l" defTabSz="914400" rtl="0" eaLnBrk="1" latinLnBrk="0" hangingPunct="1"/>
                      <a:endParaRPr lang="ru-RU" sz="1600" b="1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Разработка структуры сопровождения информационной системы; выявление и исправление ошибок в коде.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676623"/>
                  </a:ext>
                </a:extLst>
              </a:tr>
              <a:tr h="70943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1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Соадминистрирование</a:t>
                      </a:r>
                      <a:r>
                        <a:rPr lang="ru-RU" sz="20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баз данных и серверов.</a:t>
                      </a:r>
                      <a:endParaRPr lang="ru-RU" sz="1600" dirty="0">
                        <a:effectLst/>
                      </a:endParaRPr>
                    </a:p>
                    <a:p>
                      <a:pPr marL="0" algn="l" defTabSz="914400" rtl="0" eaLnBrk="1" latinLnBrk="0" hangingPunct="1"/>
                      <a:endParaRPr lang="ru-RU" sz="1600" b="1" kern="1200" dirty="0">
                        <a:solidFill>
                          <a:schemeClr val="dk1"/>
                        </a:solidFill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165100" lvl="0" indent="0" algn="just">
                        <a:spcAft>
                          <a:spcPts val="0"/>
                        </a:spcAft>
                        <a:buFont typeface="Symbol" panose="05050102010706020507" pitchFamily="18" charset="2"/>
                        <a:buNone/>
                      </a:pPr>
                      <a:r>
                        <a:rPr lang="ru-RU" sz="16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Администрирование базы данных </a:t>
                      </a:r>
                      <a:r>
                        <a:rPr lang="en-US" sz="1600" kern="1200" dirty="0">
                          <a:solidFill>
                            <a:schemeClr val="dk1"/>
                          </a:solidFill>
                          <a:effectLst/>
                          <a:latin typeface="Arial" panose="020B0604020202020204" pitchFamily="34" charset="0"/>
                          <a:ea typeface="Times New Roman" panose="02020603050405020304" pitchFamily="18" charset="0"/>
                          <a:cs typeface="Arial" panose="020B0604020202020204" pitchFamily="34" charset="0"/>
                        </a:rPr>
                        <a:t>MySQL.</a:t>
                      </a:r>
                      <a:endParaRPr lang="ru-RU" sz="1600" kern="1200" dirty="0">
                        <a:solidFill>
                          <a:schemeClr val="dk1"/>
                        </a:solidFill>
                        <a:effectLst/>
                        <a:latin typeface="Arial" panose="020B0604020202020204" pitchFamily="34" charset="0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48159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479582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791</TotalTime>
  <Words>702</Words>
  <Application>Microsoft Office PowerPoint</Application>
  <PresentationFormat>Широкоэкранный</PresentationFormat>
  <Paragraphs>144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Symbol</vt:lpstr>
      <vt:lpstr>Тема Office</vt:lpstr>
      <vt:lpstr>Презентация PowerPoint</vt:lpstr>
      <vt:lpstr>Презентация PowerPoint</vt:lpstr>
      <vt:lpstr>Презентация PowerPoint</vt:lpstr>
      <vt:lpstr>Организационная структура предприятия</vt:lpstr>
      <vt:lpstr>Презентация PowerPoint</vt:lpstr>
      <vt:lpstr>Проектирование программного продукта</vt:lpstr>
      <vt:lpstr>Проектирование программного продукта</vt:lpstr>
      <vt:lpstr>Проектирование базы данных</vt:lpstr>
      <vt:lpstr>Тестирование программного продукта</vt:lpstr>
      <vt:lpstr>Демонстрация программного продукта</vt:lpstr>
      <vt:lpstr>Вывод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_Moore.Skrim_</dc:creator>
  <cp:lastModifiedBy>Adminium</cp:lastModifiedBy>
  <cp:revision>58</cp:revision>
  <dcterms:created xsi:type="dcterms:W3CDTF">2023-05-28T07:05:17Z</dcterms:created>
  <dcterms:modified xsi:type="dcterms:W3CDTF">2026-05-31T12:25:44Z</dcterms:modified>
</cp:coreProperties>
</file>